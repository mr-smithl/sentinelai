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1" autoAdjust="0"/>
  </p:normalViewPr>
  <p:slideViewPr>
    <p:cSldViewPr snapToGrid="0" snapToObjects="1">
      <p:cViewPr varScale="1">
        <p:scale>
          <a:sx n="103" d="100"/>
          <a:sy n="103" d="100"/>
        </p:scale>
        <p:origin x="18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Incidents</c:v>
                </c:pt>
              </c:strCache>
            </c:strRef>
          </c:tx>
          <c:spPr>
            <a:solidFill>
              <a:srgbClr val="00C9A7"/>
            </a:solidFill>
            <a:effectLst/>
          </c:spPr>
          <c:invertIfNegative val="0"/>
          <c:dPt>
            <c:idx val="0"/>
            <c:invertIfNegative val="0"/>
            <c:bubble3D val="0"/>
            <c:spPr>
              <a:solidFill>
                <a:srgbClr val="00C9A7"/>
              </a:solidFill>
              <a:effectLst/>
            </c:spPr>
            <c:extLst>
              <c:ext xmlns:c16="http://schemas.microsoft.com/office/drawing/2014/chart" uri="{C3380CC4-5D6E-409C-BE32-E72D297353CC}">
                <c16:uniqueId val="{00000001-D5AE-410F-A404-9E0B00405BDE}"/>
              </c:ext>
            </c:extLst>
          </c:dPt>
          <c:dPt>
            <c:idx val="1"/>
            <c:invertIfNegative val="0"/>
            <c:bubble3D val="0"/>
            <c:spPr>
              <a:solidFill>
                <a:srgbClr val="00B899"/>
              </a:solidFill>
              <a:effectLst/>
            </c:spPr>
            <c:extLst>
              <c:ext xmlns:c16="http://schemas.microsoft.com/office/drawing/2014/chart" uri="{C3380CC4-5D6E-409C-BE32-E72D297353CC}">
                <c16:uniqueId val="{00000003-D5AE-410F-A404-9E0B00405BDE}"/>
              </c:ext>
            </c:extLst>
          </c:dPt>
          <c:dPt>
            <c:idx val="2"/>
            <c:invertIfNegative val="0"/>
            <c:bubble3D val="0"/>
            <c:spPr>
              <a:solidFill>
                <a:srgbClr val="00A688"/>
              </a:solidFill>
              <a:effectLst/>
            </c:spPr>
            <c:extLst>
              <c:ext xmlns:c16="http://schemas.microsoft.com/office/drawing/2014/chart" uri="{C3380CC4-5D6E-409C-BE32-E72D297353CC}">
                <c16:uniqueId val="{00000005-D5AE-410F-A404-9E0B00405BDE}"/>
              </c:ext>
            </c:extLst>
          </c:dPt>
          <c:dPt>
            <c:idx val="3"/>
            <c:invertIfNegative val="0"/>
            <c:bubble3D val="0"/>
            <c:spPr>
              <a:solidFill>
                <a:srgbClr val="008F74"/>
              </a:solidFill>
              <a:effectLst/>
            </c:spPr>
            <c:extLst>
              <c:ext xmlns:c16="http://schemas.microsoft.com/office/drawing/2014/chart" uri="{C3380CC4-5D6E-409C-BE32-E72D297353CC}">
                <c16:uniqueId val="{00000007-D5AE-410F-A404-9E0B00405BDE}"/>
              </c:ext>
            </c:extLst>
          </c:dPt>
          <c:dPt>
            <c:idx val="4"/>
            <c:invertIfNegative val="0"/>
            <c:bubble3D val="0"/>
            <c:spPr>
              <a:solidFill>
                <a:srgbClr val="007860"/>
              </a:solidFill>
              <a:effectLst/>
            </c:spPr>
            <c:extLst>
              <c:ext xmlns:c16="http://schemas.microsoft.com/office/drawing/2014/chart" uri="{C3380CC4-5D6E-409C-BE32-E72D297353CC}">
                <c16:uniqueId val="{00000009-D5AE-410F-A404-9E0B00405BDE}"/>
              </c:ext>
            </c:extLst>
          </c:dPt>
          <c:dPt>
            <c:idx val="5"/>
            <c:invertIfNegative val="0"/>
            <c:bubble3D val="0"/>
            <c:spPr>
              <a:solidFill>
                <a:srgbClr val="006250"/>
              </a:solidFill>
              <a:effectLst/>
            </c:spPr>
            <c:extLst>
              <c:ext xmlns:c16="http://schemas.microsoft.com/office/drawing/2014/chart" uri="{C3380CC4-5D6E-409C-BE32-E72D297353CC}">
                <c16:uniqueId val="{0000000B-D5AE-410F-A404-9E0B00405BDE}"/>
              </c:ext>
            </c:extLst>
          </c:dPt>
          <c:dLbls>
            <c:numFmt formatCode="#,##0" sourceLinked="0"/>
            <c:spPr>
              <a:noFill/>
              <a:ln>
                <a:noFill/>
              </a:ln>
              <a:effectLst/>
            </c:spPr>
            <c:txPr>
              <a:bodyPr/>
              <a:lstStyle/>
              <a:p>
                <a:pPr>
                  <a:defRPr sz="900" b="0" i="0" u="none" strike="noStrike">
                    <a:solidFill>
                      <a:srgbClr val="FFFFF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JHB CBD</c:v>
                </c:pt>
                <c:pt idx="1">
                  <c:v>Soweto</c:v>
                </c:pt>
                <c:pt idx="2">
                  <c:v>Ekurhuleni</c:v>
                </c:pt>
                <c:pt idx="3">
                  <c:v>Tshwane</c:v>
                </c:pt>
                <c:pt idx="4">
                  <c:v>West Rand</c:v>
                </c:pt>
                <c:pt idx="5">
                  <c:v>Sedibeng</c:v>
                </c:pt>
              </c:strCache>
            </c:strRef>
          </c:cat>
          <c:val>
            <c:numRef>
              <c:f>Sheet1!$B$2:$B$7</c:f>
              <c:numCache>
                <c:formatCode>General</c:formatCode>
                <c:ptCount val="6"/>
                <c:pt idx="0">
                  <c:v>1240</c:v>
                </c:pt>
                <c:pt idx="1">
                  <c:v>980</c:v>
                </c:pt>
                <c:pt idx="2">
                  <c:v>860</c:v>
                </c:pt>
                <c:pt idx="3">
                  <c:v>740</c:v>
                </c:pt>
                <c:pt idx="4">
                  <c:v>520</c:v>
                </c:pt>
                <c:pt idx="5">
                  <c:v>310</c:v>
                </c:pt>
              </c:numCache>
            </c:numRef>
          </c:val>
          <c:extLst>
            <c:ext xmlns:c16="http://schemas.microsoft.com/office/drawing/2014/chart" uri="{C3380CC4-5D6E-409C-BE32-E72D297353CC}">
              <c16:uniqueId val="{0000000C-D5AE-410F-A404-9E0B00405BD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1E305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D2035"/>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5443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SentinelAI is our response to Gauteng's infrastructure theft crisis. In the next few minutes we will show you the scale of the problem, our solution, and the impact it will have.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Gauteng loses over R7 billion annually to cable theft nationwide. In Gauteng alone, more than 3,200 substations and transformers are vulnerable. At peak hours 68% of traffic lights in Johannesburg were non-functional in 2024. The average response time to a vandalism report is 42 minutes — far too slow to prevent damage.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Johannesburg CBD records the highest number of incidents at 1,240 in 2024. The provincial total represents a 31% year-on-year increase. Critically, 78% of these incidents occurred between 10pm and 4am — exactly when automated detection matters most.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SentinelAI has three integrated layers. The hardware layer — Arduino sensor nodes — detects physical threats in real time. The AI layer scores each event and decides the response priority. The software layer — the command dashboard — gives government a single view of all assets and dispatches response teams automatically.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entire loop from sensor trigger to WhatsApp notification takes under 60 seconds. Importantly, every incident creates a job — a verified local technician is dispatched, paid, and the outcome is logged. This is how SentinelAI directly addresses unemployment as well as infrastructure theft.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entire stack uses open-source tools and commodity hardware. A single Arduino Uno costs under R120. The sensors total under R200. The software stack — FastAPI, React, Python — is free. This means SentinelAI can be deployed province-wide at a fraction of proprietary CCTV or monitoring system costs.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projected 65% reduction in incidents is based on comparable IoT-deterrence deployments in Johannesburg's private sector. The R1.7 billion savings estimate covers reduced Eskom emergency repair costs, municipal overtime, and road accident costs from dark traffic lights. The 4,000 jobs figure assumes each node requires ongoing maintenance, monitoring, and response work by local community members.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what we have in hand right now — Arduino, sensors, a laptop, venue WiFi. That is Phase 1. By Phase 3 we have full province coverage with a job dispatch marketplace ensuring every alert creates employment. The phased approach de-risks the investment and gives government measurable outcomes at each stage.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Gauteng has the infrastructure, the talent, and the urgency to lead Africa in smart city protection. SentinelAI is not a concept — we have a working prototype on this table right now. We are asking for support to take it from pilot to province.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7132320" y="-1097280"/>
            <a:ext cx="3200400" cy="3200400"/>
          </a:xfrm>
          <a:prstGeom prst="ellipse">
            <a:avLst/>
          </a:prstGeom>
          <a:solidFill>
            <a:srgbClr val="00C9A7">
              <a:alpha val="18000"/>
            </a:srgbClr>
          </a:solidFill>
          <a:ln w="12700">
            <a:solidFill>
              <a:srgbClr val="00C9A7">
                <a:alpha val="40000"/>
              </a:srgbClr>
            </a:solidFill>
            <a:prstDash val="solid"/>
          </a:ln>
        </p:spPr>
        <p:txBody>
          <a:bodyPr/>
          <a:lstStyle/>
          <a:p>
            <a:endParaRPr lang="en-ZA"/>
          </a:p>
        </p:txBody>
      </p:sp>
      <p:sp>
        <p:nvSpPr>
          <p:cNvPr id="3" name="Shape 1"/>
          <p:cNvSpPr/>
          <p:nvPr/>
        </p:nvSpPr>
        <p:spPr>
          <a:xfrm>
            <a:off x="7680960" y="-548640"/>
            <a:ext cx="2011680" cy="2011680"/>
          </a:xfrm>
          <a:prstGeom prst="ellipse">
            <a:avLst/>
          </a:prstGeom>
          <a:solidFill>
            <a:srgbClr val="00C9A7">
              <a:alpha val="30000"/>
            </a:srgbClr>
          </a:solidFill>
          <a:ln w="12700">
            <a:solidFill>
              <a:srgbClr val="00C9A7"/>
            </a:solidFill>
            <a:prstDash val="solid"/>
          </a:ln>
        </p:spPr>
        <p:txBody>
          <a:bodyPr/>
          <a:lstStyle/>
          <a:p>
            <a:endParaRPr lang="en-ZA"/>
          </a:p>
        </p:txBody>
      </p:sp>
      <p:sp>
        <p:nvSpPr>
          <p:cNvPr id="4" name="Shape 2"/>
          <p:cNvSpPr/>
          <p:nvPr/>
        </p:nvSpPr>
        <p:spPr>
          <a:xfrm>
            <a:off x="-548640" y="3840480"/>
            <a:ext cx="2194560" cy="2194560"/>
          </a:xfrm>
          <a:prstGeom prst="ellipse">
            <a:avLst/>
          </a:prstGeom>
          <a:solidFill>
            <a:srgbClr val="00C9A7">
              <a:alpha val="14000"/>
            </a:srgbClr>
          </a:solidFill>
          <a:ln w="12700">
            <a:solidFill>
              <a:srgbClr val="00C9A7"/>
            </a:solidFill>
            <a:prstDash val="solid"/>
          </a:ln>
        </p:spPr>
        <p:txBody>
          <a:bodyPr/>
          <a:lstStyle/>
          <a:p>
            <a:endParaRPr lang="en-ZA"/>
          </a:p>
        </p:txBody>
      </p:sp>
      <p:sp>
        <p:nvSpPr>
          <p:cNvPr id="5" name="Text 3"/>
          <p:cNvSpPr/>
          <p:nvPr/>
        </p:nvSpPr>
        <p:spPr>
          <a:xfrm>
            <a:off x="640080" y="1188720"/>
            <a:ext cx="7315200" cy="320040"/>
          </a:xfrm>
          <a:prstGeom prst="rect">
            <a:avLst/>
          </a:prstGeom>
          <a:noFill/>
          <a:ln/>
        </p:spPr>
        <p:txBody>
          <a:bodyPr wrap="square" rtlCol="0" anchor="ctr"/>
          <a:lstStyle/>
          <a:p>
            <a:pPr marL="0" indent="0">
              <a:buNone/>
            </a:pPr>
            <a:r>
              <a:rPr lang="en-US" sz="1100" b="1" kern="0" spc="500" dirty="0">
                <a:solidFill>
                  <a:srgbClr val="00C9A7"/>
                </a:solidFill>
                <a:latin typeface="Calibri" pitchFamily="34" charset="0"/>
                <a:ea typeface="Calibri" pitchFamily="34" charset="-122"/>
                <a:cs typeface="Calibri" pitchFamily="34" charset="-120"/>
              </a:rPr>
              <a:t>GAUTENG G13 HACKATHON 2026</a:t>
            </a:r>
            <a:endParaRPr lang="en-US" sz="1100" dirty="0"/>
          </a:p>
        </p:txBody>
      </p:sp>
      <p:sp>
        <p:nvSpPr>
          <p:cNvPr id="6" name="Text 4"/>
          <p:cNvSpPr/>
          <p:nvPr/>
        </p:nvSpPr>
        <p:spPr>
          <a:xfrm>
            <a:off x="640080" y="1600200"/>
            <a:ext cx="7772400" cy="1005840"/>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SentinelAI</a:t>
            </a:r>
            <a:endParaRPr lang="en-US" sz="6000" dirty="0"/>
          </a:p>
        </p:txBody>
      </p:sp>
      <p:sp>
        <p:nvSpPr>
          <p:cNvPr id="7" name="Text 5"/>
          <p:cNvSpPr/>
          <p:nvPr/>
        </p:nvSpPr>
        <p:spPr>
          <a:xfrm>
            <a:off x="640080" y="2606040"/>
            <a:ext cx="7315200" cy="502920"/>
          </a:xfrm>
          <a:prstGeom prst="rect">
            <a:avLst/>
          </a:prstGeom>
          <a:noFill/>
          <a:ln/>
        </p:spPr>
        <p:txBody>
          <a:bodyPr wrap="square" rtlCol="0" anchor="ctr"/>
          <a:lstStyle/>
          <a:p>
            <a:pPr marL="0" indent="0">
              <a:buNone/>
            </a:pPr>
            <a:r>
              <a:rPr lang="en-US" sz="2200" i="1" dirty="0">
                <a:solidFill>
                  <a:srgbClr val="00C9A7"/>
                </a:solidFill>
                <a:latin typeface="Calibri" pitchFamily="34" charset="0"/>
                <a:ea typeface="Calibri" pitchFamily="34" charset="-122"/>
                <a:cs typeface="Calibri" pitchFamily="34" charset="-120"/>
              </a:rPr>
              <a:t>Predict. Protect. Prevent.</a:t>
            </a:r>
            <a:endParaRPr lang="en-US" sz="2200" dirty="0"/>
          </a:p>
        </p:txBody>
      </p:sp>
      <p:sp>
        <p:nvSpPr>
          <p:cNvPr id="8" name="Text 6"/>
          <p:cNvSpPr/>
          <p:nvPr/>
        </p:nvSpPr>
        <p:spPr>
          <a:xfrm>
            <a:off x="640080" y="3200400"/>
            <a:ext cx="6858000" cy="640080"/>
          </a:xfrm>
          <a:prstGeom prst="rect">
            <a:avLst/>
          </a:prstGeom>
          <a:noFill/>
          <a:ln/>
        </p:spPr>
        <p:txBody>
          <a:bodyPr wrap="square" rtlCol="0" anchor="ctr"/>
          <a:lstStyle/>
          <a:p>
            <a:pPr marL="0" indent="0" algn="l">
              <a:buNone/>
            </a:pPr>
            <a:r>
              <a:rPr lang="en-US" sz="1500" dirty="0">
                <a:solidFill>
                  <a:srgbClr val="94A3B8"/>
                </a:solidFill>
                <a:latin typeface="Calibri" pitchFamily="34" charset="0"/>
                <a:ea typeface="Calibri" pitchFamily="34" charset="-122"/>
                <a:cs typeface="Calibri" pitchFamily="34" charset="-120"/>
              </a:rPr>
              <a:t>An AI-powered infrastructure protection platform for Gauteng's most critical assets</a:t>
            </a:r>
            <a:endParaRPr lang="en-US" sz="1500" dirty="0"/>
          </a:p>
        </p:txBody>
      </p:sp>
      <p:sp>
        <p:nvSpPr>
          <p:cNvPr id="9" name="Shape 7"/>
          <p:cNvSpPr/>
          <p:nvPr/>
        </p:nvSpPr>
        <p:spPr>
          <a:xfrm>
            <a:off x="0" y="4754880"/>
            <a:ext cx="9144000" cy="388620"/>
          </a:xfrm>
          <a:prstGeom prst="rect">
            <a:avLst/>
          </a:prstGeom>
          <a:solidFill>
            <a:srgbClr val="00A68A"/>
          </a:solidFill>
          <a:ln w="12700">
            <a:solidFill>
              <a:srgbClr val="00A68A"/>
            </a:solidFill>
            <a:prstDash val="solid"/>
          </a:ln>
        </p:spPr>
        <p:txBody>
          <a:bodyPr/>
          <a:lstStyle/>
          <a:p>
            <a:endParaRPr lang="en-ZA"/>
          </a:p>
        </p:txBody>
      </p:sp>
      <p:sp>
        <p:nvSpPr>
          <p:cNvPr id="10" name="Text 8"/>
          <p:cNvSpPr/>
          <p:nvPr/>
        </p:nvSpPr>
        <p:spPr>
          <a:xfrm>
            <a:off x="457200" y="4773168"/>
            <a:ext cx="8229600" cy="3200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SentinelAI  ·  Ryzen </a:t>
            </a:r>
            <a:r>
              <a:rPr lang="en-US" sz="1000" dirty="0" err="1">
                <a:solidFill>
                  <a:srgbClr val="FFFFFF"/>
                </a:solidFill>
                <a:latin typeface="Calibri" pitchFamily="34" charset="0"/>
                <a:ea typeface="Calibri" pitchFamily="34" charset="-122"/>
                <a:cs typeface="Calibri" pitchFamily="34" charset="-120"/>
              </a:rPr>
              <a:t>Moyeni</a:t>
            </a:r>
            <a:r>
              <a:rPr lang="en-US" sz="1000" dirty="0">
                <a:solidFill>
                  <a:srgbClr val="FFFFFF"/>
                </a:solidFill>
                <a:latin typeface="Calibri" pitchFamily="34" charset="0"/>
                <a:ea typeface="Calibri" pitchFamily="34" charset="-122"/>
                <a:cs typeface="Calibri" pitchFamily="34" charset="-120"/>
              </a:rPr>
              <a:t>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92608"/>
          </a:xfrm>
          <a:prstGeom prst="rect">
            <a:avLst/>
          </a:prstGeom>
          <a:noFill/>
          <a:ln/>
        </p:spPr>
        <p:txBody>
          <a:bodyPr wrap="square" rtlCol="0" anchor="ctr"/>
          <a:lstStyle/>
          <a:p>
            <a:pPr marL="0" indent="0">
              <a:buNone/>
            </a:pPr>
            <a:r>
              <a:rPr lang="en-US" sz="1100" b="1" kern="0" spc="500" dirty="0">
                <a:solidFill>
                  <a:srgbClr val="00C9A7"/>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457200" y="54864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Infrastructure theft is crippling Gauteng</a:t>
            </a:r>
            <a:endParaRPr lang="en-US" sz="2800" dirty="0"/>
          </a:p>
        </p:txBody>
      </p:sp>
      <p:sp>
        <p:nvSpPr>
          <p:cNvPr id="4" name="Shape 2"/>
          <p:cNvSpPr/>
          <p:nvPr/>
        </p:nvSpPr>
        <p:spPr>
          <a:xfrm>
            <a:off x="320040" y="1298448"/>
            <a:ext cx="1965960" cy="2148840"/>
          </a:xfrm>
          <a:prstGeom prst="roundRect">
            <a:avLst>
              <a:gd name="adj" fmla="val 5581"/>
            </a:avLst>
          </a:prstGeom>
          <a:solidFill>
            <a:srgbClr val="132040"/>
          </a:solidFill>
          <a:ln w="6350">
            <a:solidFill>
              <a:srgbClr val="00C9A7">
                <a:alpha val="4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5" name="Text 3"/>
          <p:cNvSpPr/>
          <p:nvPr/>
        </p:nvSpPr>
        <p:spPr>
          <a:xfrm>
            <a:off x="320040" y="1426464"/>
            <a:ext cx="1965960" cy="685800"/>
          </a:xfrm>
          <a:prstGeom prst="rect">
            <a:avLst/>
          </a:prstGeom>
          <a:noFill/>
          <a:ln/>
        </p:spPr>
        <p:txBody>
          <a:bodyPr wrap="square" rtlCol="0" anchor="ctr"/>
          <a:lstStyle/>
          <a:p>
            <a:pPr marL="0" indent="0" algn="ctr">
              <a:buNone/>
            </a:pPr>
            <a:r>
              <a:rPr lang="en-US" sz="3400" b="1" dirty="0">
                <a:solidFill>
                  <a:srgbClr val="00C9A7"/>
                </a:solidFill>
                <a:latin typeface="Cambria" pitchFamily="34" charset="0"/>
                <a:ea typeface="Cambria" pitchFamily="34" charset="-122"/>
                <a:cs typeface="Cambria" pitchFamily="34" charset="-120"/>
              </a:rPr>
              <a:t>R7B+</a:t>
            </a:r>
            <a:endParaRPr lang="en-US" sz="3400" dirty="0"/>
          </a:p>
        </p:txBody>
      </p:sp>
      <p:sp>
        <p:nvSpPr>
          <p:cNvPr id="6" name="Text 4"/>
          <p:cNvSpPr/>
          <p:nvPr/>
        </p:nvSpPr>
        <p:spPr>
          <a:xfrm>
            <a:off x="320040" y="2103120"/>
            <a:ext cx="1965960" cy="658368"/>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annual cost of</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cable theft nationally</a:t>
            </a:r>
            <a:endParaRPr lang="en-US" sz="1150" dirty="0"/>
          </a:p>
        </p:txBody>
      </p:sp>
      <p:sp>
        <p:nvSpPr>
          <p:cNvPr id="7" name="Text 5"/>
          <p:cNvSpPr/>
          <p:nvPr/>
        </p:nvSpPr>
        <p:spPr>
          <a:xfrm>
            <a:off x="320040" y="2761488"/>
            <a:ext cx="1965960" cy="502920"/>
          </a:xfrm>
          <a:prstGeom prst="rect">
            <a:avLst/>
          </a:prstGeom>
          <a:noFill/>
          <a:ln/>
        </p:spPr>
        <p:txBody>
          <a:bodyPr wrap="square" rtlCol="0" anchor="ctr"/>
          <a:lstStyle/>
          <a:p>
            <a:pPr marL="0" indent="0" algn="ctr">
              <a:buNone/>
            </a:pPr>
            <a:r>
              <a:rPr lang="en-US" sz="950" i="1" dirty="0">
                <a:solidFill>
                  <a:srgbClr val="94A3B8"/>
                </a:solidFill>
                <a:latin typeface="Calibri" pitchFamily="34" charset="0"/>
                <a:ea typeface="Calibri" pitchFamily="34" charset="-122"/>
                <a:cs typeface="Calibri" pitchFamily="34" charset="-120"/>
              </a:rPr>
              <a:t>Eskom 2024</a:t>
            </a:r>
            <a:endParaRPr lang="en-US" sz="950" dirty="0"/>
          </a:p>
        </p:txBody>
      </p:sp>
      <p:sp>
        <p:nvSpPr>
          <p:cNvPr id="8" name="Shape 6"/>
          <p:cNvSpPr/>
          <p:nvPr/>
        </p:nvSpPr>
        <p:spPr>
          <a:xfrm>
            <a:off x="2468880" y="1298448"/>
            <a:ext cx="1965960" cy="2148840"/>
          </a:xfrm>
          <a:prstGeom prst="roundRect">
            <a:avLst>
              <a:gd name="adj" fmla="val 5581"/>
            </a:avLst>
          </a:prstGeom>
          <a:solidFill>
            <a:srgbClr val="132040"/>
          </a:solidFill>
          <a:ln w="6350">
            <a:solidFill>
              <a:srgbClr val="00C9A7">
                <a:alpha val="4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9" name="Text 7"/>
          <p:cNvSpPr/>
          <p:nvPr/>
        </p:nvSpPr>
        <p:spPr>
          <a:xfrm>
            <a:off x="2468880" y="1426464"/>
            <a:ext cx="1965960" cy="685800"/>
          </a:xfrm>
          <a:prstGeom prst="rect">
            <a:avLst/>
          </a:prstGeom>
          <a:noFill/>
          <a:ln/>
        </p:spPr>
        <p:txBody>
          <a:bodyPr wrap="square" rtlCol="0" anchor="ctr"/>
          <a:lstStyle/>
          <a:p>
            <a:pPr marL="0" indent="0" algn="ctr">
              <a:buNone/>
            </a:pPr>
            <a:r>
              <a:rPr lang="en-US" sz="3400" b="1" dirty="0">
                <a:solidFill>
                  <a:srgbClr val="00C9A7"/>
                </a:solidFill>
                <a:latin typeface="Cambria" pitchFamily="34" charset="0"/>
                <a:ea typeface="Cambria" pitchFamily="34" charset="-122"/>
                <a:cs typeface="Cambria" pitchFamily="34" charset="-120"/>
              </a:rPr>
              <a:t>3,200+</a:t>
            </a:r>
            <a:endParaRPr lang="en-US" sz="3400" dirty="0"/>
          </a:p>
        </p:txBody>
      </p:sp>
      <p:sp>
        <p:nvSpPr>
          <p:cNvPr id="10" name="Text 8"/>
          <p:cNvSpPr/>
          <p:nvPr/>
        </p:nvSpPr>
        <p:spPr>
          <a:xfrm>
            <a:off x="2468880" y="2103120"/>
            <a:ext cx="1965960" cy="658368"/>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substations &amp;</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transformers at risk</a:t>
            </a:r>
            <a:endParaRPr lang="en-US" sz="1150" dirty="0"/>
          </a:p>
        </p:txBody>
      </p:sp>
      <p:sp>
        <p:nvSpPr>
          <p:cNvPr id="11" name="Text 9"/>
          <p:cNvSpPr/>
          <p:nvPr/>
        </p:nvSpPr>
        <p:spPr>
          <a:xfrm>
            <a:off x="2468880" y="2761488"/>
            <a:ext cx="1965960" cy="502920"/>
          </a:xfrm>
          <a:prstGeom prst="rect">
            <a:avLst/>
          </a:prstGeom>
          <a:noFill/>
          <a:ln/>
        </p:spPr>
        <p:txBody>
          <a:bodyPr wrap="square" rtlCol="0" anchor="ctr"/>
          <a:lstStyle/>
          <a:p>
            <a:pPr marL="0" indent="0" algn="ctr">
              <a:buNone/>
            </a:pPr>
            <a:r>
              <a:rPr lang="en-US" sz="950" i="1" dirty="0">
                <a:solidFill>
                  <a:srgbClr val="94A3B8"/>
                </a:solidFill>
                <a:latin typeface="Calibri" pitchFamily="34" charset="0"/>
                <a:ea typeface="Calibri" pitchFamily="34" charset="-122"/>
                <a:cs typeface="Calibri" pitchFamily="34" charset="-120"/>
              </a:rPr>
              <a:t>Gauteng only</a:t>
            </a:r>
            <a:endParaRPr lang="en-US" sz="950" dirty="0"/>
          </a:p>
        </p:txBody>
      </p:sp>
      <p:sp>
        <p:nvSpPr>
          <p:cNvPr id="12" name="Shape 10"/>
          <p:cNvSpPr/>
          <p:nvPr/>
        </p:nvSpPr>
        <p:spPr>
          <a:xfrm>
            <a:off x="4617720" y="1298448"/>
            <a:ext cx="1965960" cy="2148840"/>
          </a:xfrm>
          <a:prstGeom prst="roundRect">
            <a:avLst>
              <a:gd name="adj" fmla="val 5581"/>
            </a:avLst>
          </a:prstGeom>
          <a:solidFill>
            <a:srgbClr val="132040"/>
          </a:solidFill>
          <a:ln w="6350">
            <a:solidFill>
              <a:srgbClr val="00C9A7">
                <a:alpha val="4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13" name="Text 11"/>
          <p:cNvSpPr/>
          <p:nvPr/>
        </p:nvSpPr>
        <p:spPr>
          <a:xfrm>
            <a:off x="4617720" y="1426464"/>
            <a:ext cx="1965960" cy="685800"/>
          </a:xfrm>
          <a:prstGeom prst="rect">
            <a:avLst/>
          </a:prstGeom>
          <a:noFill/>
          <a:ln/>
        </p:spPr>
        <p:txBody>
          <a:bodyPr wrap="square" rtlCol="0" anchor="ctr"/>
          <a:lstStyle/>
          <a:p>
            <a:pPr marL="0" indent="0" algn="ctr">
              <a:buNone/>
            </a:pPr>
            <a:r>
              <a:rPr lang="en-US" sz="3400" b="1" dirty="0">
                <a:solidFill>
                  <a:srgbClr val="00C9A7"/>
                </a:solidFill>
                <a:latin typeface="Cambria" pitchFamily="34" charset="0"/>
                <a:ea typeface="Cambria" pitchFamily="34" charset="-122"/>
                <a:cs typeface="Cambria" pitchFamily="34" charset="-120"/>
              </a:rPr>
              <a:t>68%</a:t>
            </a:r>
            <a:endParaRPr lang="en-US" sz="3400" dirty="0"/>
          </a:p>
        </p:txBody>
      </p:sp>
      <p:sp>
        <p:nvSpPr>
          <p:cNvPr id="14" name="Text 12"/>
          <p:cNvSpPr/>
          <p:nvPr/>
        </p:nvSpPr>
        <p:spPr>
          <a:xfrm>
            <a:off x="4617720" y="2103120"/>
            <a:ext cx="1965960" cy="658368"/>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traffic lights</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non-functional at peak</a:t>
            </a:r>
            <a:endParaRPr lang="en-US" sz="1150" dirty="0"/>
          </a:p>
        </p:txBody>
      </p:sp>
      <p:sp>
        <p:nvSpPr>
          <p:cNvPr id="15" name="Text 13"/>
          <p:cNvSpPr/>
          <p:nvPr/>
        </p:nvSpPr>
        <p:spPr>
          <a:xfrm>
            <a:off x="4617720" y="2761488"/>
            <a:ext cx="1965960" cy="502920"/>
          </a:xfrm>
          <a:prstGeom prst="rect">
            <a:avLst/>
          </a:prstGeom>
          <a:noFill/>
          <a:ln/>
        </p:spPr>
        <p:txBody>
          <a:bodyPr wrap="square" rtlCol="0" anchor="ctr"/>
          <a:lstStyle/>
          <a:p>
            <a:pPr marL="0" indent="0" algn="ctr">
              <a:buNone/>
            </a:pPr>
            <a:r>
              <a:rPr lang="en-US" sz="950" i="1" dirty="0">
                <a:solidFill>
                  <a:srgbClr val="94A3B8"/>
                </a:solidFill>
                <a:latin typeface="Calibri" pitchFamily="34" charset="0"/>
                <a:ea typeface="Calibri" pitchFamily="34" charset="-122"/>
                <a:cs typeface="Calibri" pitchFamily="34" charset="-120"/>
              </a:rPr>
              <a:t>City of Joburg 2024</a:t>
            </a:r>
            <a:endParaRPr lang="en-US" sz="950" dirty="0"/>
          </a:p>
        </p:txBody>
      </p:sp>
      <p:sp>
        <p:nvSpPr>
          <p:cNvPr id="16" name="Shape 14"/>
          <p:cNvSpPr/>
          <p:nvPr/>
        </p:nvSpPr>
        <p:spPr>
          <a:xfrm>
            <a:off x="6766560" y="1298448"/>
            <a:ext cx="1965960" cy="2148840"/>
          </a:xfrm>
          <a:prstGeom prst="roundRect">
            <a:avLst>
              <a:gd name="adj" fmla="val 5581"/>
            </a:avLst>
          </a:prstGeom>
          <a:solidFill>
            <a:srgbClr val="132040"/>
          </a:solidFill>
          <a:ln w="6350">
            <a:solidFill>
              <a:srgbClr val="00C9A7">
                <a:alpha val="4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17" name="Text 15"/>
          <p:cNvSpPr/>
          <p:nvPr/>
        </p:nvSpPr>
        <p:spPr>
          <a:xfrm>
            <a:off x="6766560" y="1426464"/>
            <a:ext cx="1965960" cy="685800"/>
          </a:xfrm>
          <a:prstGeom prst="rect">
            <a:avLst/>
          </a:prstGeom>
          <a:noFill/>
          <a:ln/>
        </p:spPr>
        <p:txBody>
          <a:bodyPr wrap="square" rtlCol="0" anchor="ctr"/>
          <a:lstStyle/>
          <a:p>
            <a:pPr marL="0" indent="0" algn="ctr">
              <a:buNone/>
            </a:pPr>
            <a:r>
              <a:rPr lang="en-US" sz="3400" b="1" dirty="0">
                <a:solidFill>
                  <a:srgbClr val="00C9A7"/>
                </a:solidFill>
                <a:latin typeface="Cambria" pitchFamily="34" charset="0"/>
                <a:ea typeface="Cambria" pitchFamily="34" charset="-122"/>
                <a:cs typeface="Cambria" pitchFamily="34" charset="-120"/>
              </a:rPr>
              <a:t>42min</a:t>
            </a:r>
            <a:endParaRPr lang="en-US" sz="3400" dirty="0"/>
          </a:p>
        </p:txBody>
      </p:sp>
      <p:sp>
        <p:nvSpPr>
          <p:cNvPr id="18" name="Text 16"/>
          <p:cNvSpPr/>
          <p:nvPr/>
        </p:nvSpPr>
        <p:spPr>
          <a:xfrm>
            <a:off x="6766560" y="2103120"/>
            <a:ext cx="1965960" cy="658368"/>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average response</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time to vandalism</a:t>
            </a:r>
            <a:endParaRPr lang="en-US" sz="1150" dirty="0"/>
          </a:p>
        </p:txBody>
      </p:sp>
      <p:sp>
        <p:nvSpPr>
          <p:cNvPr id="19" name="Text 17"/>
          <p:cNvSpPr/>
          <p:nvPr/>
        </p:nvSpPr>
        <p:spPr>
          <a:xfrm>
            <a:off x="6766560" y="2761488"/>
            <a:ext cx="1965960" cy="502920"/>
          </a:xfrm>
          <a:prstGeom prst="rect">
            <a:avLst/>
          </a:prstGeom>
          <a:noFill/>
          <a:ln/>
        </p:spPr>
        <p:txBody>
          <a:bodyPr wrap="square" rtlCol="0" anchor="ctr"/>
          <a:lstStyle/>
          <a:p>
            <a:pPr marL="0" indent="0" algn="ctr">
              <a:buNone/>
            </a:pPr>
            <a:r>
              <a:rPr lang="en-US" sz="950" i="1" dirty="0">
                <a:solidFill>
                  <a:srgbClr val="94A3B8"/>
                </a:solidFill>
                <a:latin typeface="Calibri" pitchFamily="34" charset="0"/>
                <a:ea typeface="Calibri" pitchFamily="34" charset="-122"/>
                <a:cs typeface="Calibri" pitchFamily="34" charset="-120"/>
              </a:rPr>
              <a:t>SAPS statistics</a:t>
            </a:r>
            <a:endParaRPr lang="en-US" sz="950" dirty="0"/>
          </a:p>
        </p:txBody>
      </p:sp>
      <p:sp>
        <p:nvSpPr>
          <p:cNvPr id="20" name="Text 18"/>
          <p:cNvSpPr/>
          <p:nvPr/>
        </p:nvSpPr>
        <p:spPr>
          <a:xfrm>
            <a:off x="457200" y="3611880"/>
            <a:ext cx="8229600" cy="365760"/>
          </a:xfrm>
          <a:prstGeom prst="rect">
            <a:avLst/>
          </a:prstGeom>
          <a:noFill/>
          <a:ln/>
        </p:spPr>
        <p:txBody>
          <a:bodyPr wrap="square"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Key affected assets: </a:t>
            </a:r>
            <a:r>
              <a:rPr lang="en-US" sz="1200" dirty="0">
                <a:solidFill>
                  <a:srgbClr val="94A3B8"/>
                </a:solidFill>
                <a:latin typeface="Calibri" pitchFamily="34" charset="0"/>
                <a:ea typeface="Calibri" pitchFamily="34" charset="-122"/>
                <a:cs typeface="Calibri" pitchFamily="34" charset="-120"/>
              </a:rPr>
              <a:t>Electrical transformers  ·  Substations  ·  Traffic light cabinets  ·  Water pump stations  ·  Schools &amp; Clinics</a:t>
            </a:r>
            <a:endParaRPr lang="en-US" sz="1200" dirty="0"/>
          </a:p>
        </p:txBody>
      </p:sp>
      <p:sp>
        <p:nvSpPr>
          <p:cNvPr id="21" name="Text 19"/>
          <p:cNvSpPr/>
          <p:nvPr/>
        </p:nvSpPr>
        <p:spPr>
          <a:xfrm>
            <a:off x="457200" y="4023360"/>
            <a:ext cx="8229600" cy="347472"/>
          </a:xfrm>
          <a:prstGeom prst="rect">
            <a:avLst/>
          </a:prstGeom>
          <a:noFill/>
          <a:ln/>
        </p:spPr>
        <p:txBody>
          <a:bodyPr wrap="square"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Current systems are </a:t>
            </a:r>
            <a:r>
              <a:rPr lang="en-US" sz="1200" b="1" dirty="0">
                <a:solidFill>
                  <a:srgbClr val="E63946"/>
                </a:solidFill>
                <a:latin typeface="Calibri" pitchFamily="34" charset="0"/>
                <a:ea typeface="Calibri" pitchFamily="34" charset="-122"/>
                <a:cs typeface="Calibri" pitchFamily="34" charset="-120"/>
              </a:rPr>
              <a:t>100% reactive</a:t>
            </a:r>
            <a:r>
              <a:rPr lang="en-US" sz="1200" dirty="0">
                <a:solidFill>
                  <a:srgbClr val="94A3B8"/>
                </a:solidFill>
                <a:latin typeface="Calibri" pitchFamily="34" charset="0"/>
                <a:ea typeface="Calibri" pitchFamily="34" charset="-122"/>
                <a:cs typeface="Calibri" pitchFamily="34" charset="-120"/>
              </a:rPr>
              <a:t> — theft is only discovered after the damage is done.</a:t>
            </a:r>
            <a:endParaRPr lang="en-US" sz="1200" dirty="0"/>
          </a:p>
        </p:txBody>
      </p:sp>
      <p:sp>
        <p:nvSpPr>
          <p:cNvPr id="22" name="Shape 20"/>
          <p:cNvSpPr/>
          <p:nvPr/>
        </p:nvSpPr>
        <p:spPr>
          <a:xfrm>
            <a:off x="0" y="4754880"/>
            <a:ext cx="9144000" cy="388620"/>
          </a:xfrm>
          <a:prstGeom prst="rect">
            <a:avLst/>
          </a:prstGeom>
          <a:solidFill>
            <a:srgbClr val="00A68A"/>
          </a:solidFill>
          <a:ln w="12700">
            <a:solidFill>
              <a:srgbClr val="00A68A"/>
            </a:solidFill>
            <a:prstDash val="solid"/>
          </a:ln>
        </p:spPr>
        <p:txBody>
          <a:bodyPr/>
          <a:lstStyle/>
          <a:p>
            <a:endParaRPr lang="en-ZA"/>
          </a:p>
        </p:txBody>
      </p:sp>
      <p:sp>
        <p:nvSpPr>
          <p:cNvPr id="23" name="Text 21"/>
          <p:cNvSpPr/>
          <p:nvPr/>
        </p:nvSpPr>
        <p:spPr>
          <a:xfrm>
            <a:off x="457200" y="4773168"/>
            <a:ext cx="8229600" cy="3200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SentinelAI  ·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92608"/>
          </a:xfrm>
          <a:prstGeom prst="rect">
            <a:avLst/>
          </a:prstGeom>
          <a:noFill/>
          <a:ln/>
        </p:spPr>
        <p:txBody>
          <a:bodyPr wrap="square" rtlCol="0" anchor="ctr"/>
          <a:lstStyle/>
          <a:p>
            <a:pPr marL="0" indent="0">
              <a:buNone/>
            </a:pPr>
            <a:r>
              <a:rPr lang="en-US" sz="1100" b="1" kern="0" spc="500" dirty="0">
                <a:solidFill>
                  <a:srgbClr val="00C9A7"/>
                </a:solidFill>
                <a:latin typeface="Calibri" pitchFamily="34" charset="0"/>
                <a:ea typeface="Calibri" pitchFamily="34" charset="-122"/>
                <a:cs typeface="Calibri" pitchFamily="34" charset="-120"/>
              </a:rPr>
              <a:t>GAUTENG CONTEXT</a:t>
            </a:r>
            <a:endParaRPr lang="en-US" sz="1100" dirty="0"/>
          </a:p>
        </p:txBody>
      </p:sp>
      <p:sp>
        <p:nvSpPr>
          <p:cNvPr id="3" name="Text 1"/>
          <p:cNvSpPr/>
          <p:nvPr/>
        </p:nvSpPr>
        <p:spPr>
          <a:xfrm>
            <a:off x="457200" y="54864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The scale of the crisis in numbers</a:t>
            </a:r>
            <a:endParaRPr lang="en-US" sz="2800" dirty="0"/>
          </a:p>
        </p:txBody>
      </p:sp>
      <p:sp>
        <p:nvSpPr>
          <p:cNvPr id="4" name="Shape 2"/>
          <p:cNvSpPr/>
          <p:nvPr/>
        </p:nvSpPr>
        <p:spPr>
          <a:xfrm>
            <a:off x="365760" y="1261872"/>
            <a:ext cx="3931920" cy="1024128"/>
          </a:xfrm>
          <a:prstGeom prst="roundRect">
            <a:avLst>
              <a:gd name="adj" fmla="val 8929"/>
            </a:avLst>
          </a:prstGeom>
          <a:solidFill>
            <a:srgbClr val="132040"/>
          </a:solidFill>
          <a:ln w="6350">
            <a:solidFill>
              <a:srgbClr val="00C9A7">
                <a:alpha val="5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5" name="Text 3"/>
          <p:cNvSpPr/>
          <p:nvPr/>
        </p:nvSpPr>
        <p:spPr>
          <a:xfrm>
            <a:off x="502920" y="1316736"/>
            <a:ext cx="1280160" cy="914400"/>
          </a:xfrm>
          <a:prstGeom prst="rect">
            <a:avLst/>
          </a:prstGeom>
          <a:noFill/>
          <a:ln/>
        </p:spPr>
        <p:txBody>
          <a:bodyPr wrap="square" rtlCol="0" anchor="ctr"/>
          <a:lstStyle/>
          <a:p>
            <a:pPr marL="0" indent="0">
              <a:buNone/>
            </a:pPr>
            <a:r>
              <a:rPr lang="en-US" sz="2800" b="1" dirty="0">
                <a:solidFill>
                  <a:srgbClr val="00C9A7"/>
                </a:solidFill>
                <a:latin typeface="Cambria" pitchFamily="34" charset="0"/>
                <a:ea typeface="Cambria" pitchFamily="34" charset="-122"/>
                <a:cs typeface="Cambria" pitchFamily="34" charset="-120"/>
              </a:rPr>
              <a:t>R2.6B</a:t>
            </a:r>
            <a:endParaRPr lang="en-US" sz="2800" dirty="0"/>
          </a:p>
        </p:txBody>
      </p:sp>
      <p:sp>
        <p:nvSpPr>
          <p:cNvPr id="6" name="Text 4"/>
          <p:cNvSpPr/>
          <p:nvPr/>
        </p:nvSpPr>
        <p:spPr>
          <a:xfrm>
            <a:off x="1783080" y="1316736"/>
            <a:ext cx="2377440" cy="56692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lost to cable theft in Gauteng in 2023 alone</a:t>
            </a:r>
            <a:endParaRPr lang="en-US" sz="1100" dirty="0"/>
          </a:p>
        </p:txBody>
      </p:sp>
      <p:sp>
        <p:nvSpPr>
          <p:cNvPr id="7" name="Text 5"/>
          <p:cNvSpPr/>
          <p:nvPr/>
        </p:nvSpPr>
        <p:spPr>
          <a:xfrm>
            <a:off x="1783080" y="1883664"/>
            <a:ext cx="2377440" cy="29260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National Prosecuting Authority</a:t>
            </a:r>
            <a:endParaRPr lang="en-US" sz="900" dirty="0"/>
          </a:p>
        </p:txBody>
      </p:sp>
      <p:sp>
        <p:nvSpPr>
          <p:cNvPr id="8" name="Shape 6"/>
          <p:cNvSpPr/>
          <p:nvPr/>
        </p:nvSpPr>
        <p:spPr>
          <a:xfrm>
            <a:off x="365760" y="2432304"/>
            <a:ext cx="3931920" cy="1024128"/>
          </a:xfrm>
          <a:prstGeom prst="roundRect">
            <a:avLst>
              <a:gd name="adj" fmla="val 8929"/>
            </a:avLst>
          </a:prstGeom>
          <a:solidFill>
            <a:srgbClr val="132040"/>
          </a:solidFill>
          <a:ln w="6350">
            <a:solidFill>
              <a:srgbClr val="00C9A7">
                <a:alpha val="5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9" name="Text 7"/>
          <p:cNvSpPr/>
          <p:nvPr/>
        </p:nvSpPr>
        <p:spPr>
          <a:xfrm>
            <a:off x="502920" y="2487168"/>
            <a:ext cx="1280160" cy="914400"/>
          </a:xfrm>
          <a:prstGeom prst="rect">
            <a:avLst/>
          </a:prstGeom>
          <a:noFill/>
          <a:ln/>
        </p:spPr>
        <p:txBody>
          <a:bodyPr wrap="square" rtlCol="0" anchor="ctr"/>
          <a:lstStyle/>
          <a:p>
            <a:pPr marL="0" indent="0">
              <a:buNone/>
            </a:pPr>
            <a:r>
              <a:rPr lang="en-US" sz="2800" b="1" dirty="0">
                <a:solidFill>
                  <a:srgbClr val="00C9A7"/>
                </a:solidFill>
                <a:latin typeface="Cambria" pitchFamily="34" charset="0"/>
                <a:ea typeface="Cambria" pitchFamily="34" charset="-122"/>
                <a:cs typeface="Cambria" pitchFamily="34" charset="-120"/>
              </a:rPr>
              <a:t>14.7M</a:t>
            </a:r>
            <a:endParaRPr lang="en-US" sz="2800" dirty="0"/>
          </a:p>
        </p:txBody>
      </p:sp>
      <p:sp>
        <p:nvSpPr>
          <p:cNvPr id="10" name="Text 8"/>
          <p:cNvSpPr/>
          <p:nvPr/>
        </p:nvSpPr>
        <p:spPr>
          <a:xfrm>
            <a:off x="1783080" y="2487168"/>
            <a:ext cx="2377440" cy="56692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residents directly impacted by infrastructure failures</a:t>
            </a:r>
            <a:endParaRPr lang="en-US" sz="1100" dirty="0"/>
          </a:p>
        </p:txBody>
      </p:sp>
      <p:sp>
        <p:nvSpPr>
          <p:cNvPr id="11" name="Text 9"/>
          <p:cNvSpPr/>
          <p:nvPr/>
        </p:nvSpPr>
        <p:spPr>
          <a:xfrm>
            <a:off x="1783080" y="3054096"/>
            <a:ext cx="2377440" cy="29260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Stats SA, 2024</a:t>
            </a:r>
            <a:endParaRPr lang="en-US" sz="900" dirty="0"/>
          </a:p>
        </p:txBody>
      </p:sp>
      <p:sp>
        <p:nvSpPr>
          <p:cNvPr id="12" name="Shape 10"/>
          <p:cNvSpPr/>
          <p:nvPr/>
        </p:nvSpPr>
        <p:spPr>
          <a:xfrm>
            <a:off x="365760" y="3602736"/>
            <a:ext cx="3931920" cy="1024128"/>
          </a:xfrm>
          <a:prstGeom prst="roundRect">
            <a:avLst>
              <a:gd name="adj" fmla="val 8929"/>
            </a:avLst>
          </a:prstGeom>
          <a:solidFill>
            <a:srgbClr val="132040"/>
          </a:solidFill>
          <a:ln w="6350">
            <a:solidFill>
              <a:srgbClr val="00C9A7">
                <a:alpha val="5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13" name="Text 11"/>
          <p:cNvSpPr/>
          <p:nvPr/>
        </p:nvSpPr>
        <p:spPr>
          <a:xfrm>
            <a:off x="502920" y="3657600"/>
            <a:ext cx="1280160" cy="914400"/>
          </a:xfrm>
          <a:prstGeom prst="rect">
            <a:avLst/>
          </a:prstGeom>
          <a:noFill/>
          <a:ln/>
        </p:spPr>
        <p:txBody>
          <a:bodyPr wrap="square" rtlCol="0" anchor="ctr"/>
          <a:lstStyle/>
          <a:p>
            <a:pPr marL="0" indent="0">
              <a:buNone/>
            </a:pPr>
            <a:r>
              <a:rPr lang="en-US" sz="2800" b="1" dirty="0">
                <a:solidFill>
                  <a:srgbClr val="00C9A7"/>
                </a:solidFill>
                <a:latin typeface="Cambria" pitchFamily="34" charset="0"/>
                <a:ea typeface="Cambria" pitchFamily="34" charset="-122"/>
                <a:cs typeface="Cambria" pitchFamily="34" charset="-120"/>
              </a:rPr>
              <a:t>1 in 3</a:t>
            </a:r>
            <a:endParaRPr lang="en-US" sz="2800" dirty="0"/>
          </a:p>
        </p:txBody>
      </p:sp>
      <p:sp>
        <p:nvSpPr>
          <p:cNvPr id="14" name="Text 12"/>
          <p:cNvSpPr/>
          <p:nvPr/>
        </p:nvSpPr>
        <p:spPr>
          <a:xfrm>
            <a:off x="1783080" y="3657600"/>
            <a:ext cx="2377440" cy="56692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households experienced water disruption linked to pump station theft</a:t>
            </a:r>
            <a:endParaRPr lang="en-US" sz="1100" dirty="0"/>
          </a:p>
        </p:txBody>
      </p:sp>
      <p:sp>
        <p:nvSpPr>
          <p:cNvPr id="15" name="Text 13"/>
          <p:cNvSpPr/>
          <p:nvPr/>
        </p:nvSpPr>
        <p:spPr>
          <a:xfrm>
            <a:off x="1783080" y="4224528"/>
            <a:ext cx="2377440" cy="29260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Rand Water Annual Report 2024</a:t>
            </a:r>
            <a:endParaRPr lang="en-US" sz="900" dirty="0"/>
          </a:p>
        </p:txBody>
      </p:sp>
      <p:sp>
        <p:nvSpPr>
          <p:cNvPr id="16" name="Text 14"/>
          <p:cNvSpPr/>
          <p:nvPr/>
        </p:nvSpPr>
        <p:spPr>
          <a:xfrm>
            <a:off x="4663440" y="1207008"/>
            <a:ext cx="4023360" cy="274320"/>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Incidents reported by Gauteng district (2024)</a:t>
            </a:r>
            <a:endParaRPr lang="en-US" sz="1000" dirty="0"/>
          </a:p>
        </p:txBody>
      </p:sp>
      <p:graphicFrame>
        <p:nvGraphicFramePr>
          <p:cNvPr id="17" name="Chart 0"/>
          <p:cNvGraphicFramePr/>
          <p:nvPr/>
        </p:nvGraphicFramePr>
        <p:xfrm>
          <a:off x="4572000" y="1481328"/>
          <a:ext cx="4114800" cy="2999232"/>
        </p:xfrm>
        <a:graphic>
          <a:graphicData uri="http://schemas.openxmlformats.org/drawingml/2006/chart">
            <c:chart xmlns:c="http://schemas.openxmlformats.org/drawingml/2006/chart" xmlns:r="http://schemas.openxmlformats.org/officeDocument/2006/relationships" r:id="rId3"/>
          </a:graphicData>
        </a:graphic>
      </p:graphicFrame>
      <p:sp>
        <p:nvSpPr>
          <p:cNvPr id="18" name="Shape 15"/>
          <p:cNvSpPr/>
          <p:nvPr/>
        </p:nvSpPr>
        <p:spPr>
          <a:xfrm>
            <a:off x="0" y="4754880"/>
            <a:ext cx="9144000" cy="388620"/>
          </a:xfrm>
          <a:prstGeom prst="rect">
            <a:avLst/>
          </a:prstGeom>
          <a:solidFill>
            <a:srgbClr val="00A68A"/>
          </a:solidFill>
          <a:ln w="12700">
            <a:solidFill>
              <a:srgbClr val="00A68A"/>
            </a:solidFill>
            <a:prstDash val="solid"/>
          </a:ln>
        </p:spPr>
        <p:txBody>
          <a:bodyPr/>
          <a:lstStyle/>
          <a:p>
            <a:endParaRPr lang="en-ZA"/>
          </a:p>
        </p:txBody>
      </p:sp>
      <p:sp>
        <p:nvSpPr>
          <p:cNvPr id="19" name="Text 16"/>
          <p:cNvSpPr/>
          <p:nvPr/>
        </p:nvSpPr>
        <p:spPr>
          <a:xfrm>
            <a:off x="457200" y="4773168"/>
            <a:ext cx="8229600" cy="3200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SentinelAI  ·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92608"/>
          </a:xfrm>
          <a:prstGeom prst="rect">
            <a:avLst/>
          </a:prstGeom>
          <a:noFill/>
          <a:ln/>
        </p:spPr>
        <p:txBody>
          <a:bodyPr wrap="square" rtlCol="0" anchor="ctr"/>
          <a:lstStyle/>
          <a:p>
            <a:pPr marL="0" indent="0">
              <a:buNone/>
            </a:pPr>
            <a:r>
              <a:rPr lang="en-US" sz="1100" b="1" kern="0" spc="500" dirty="0">
                <a:solidFill>
                  <a:srgbClr val="00C9A7"/>
                </a:solidFill>
                <a:latin typeface="Calibri" pitchFamily="34" charset="0"/>
                <a:ea typeface="Calibri" pitchFamily="34" charset="-122"/>
                <a:cs typeface="Calibri" pitchFamily="34" charset="-120"/>
              </a:rPr>
              <a:t>THE SOLUTION</a:t>
            </a:r>
            <a:endParaRPr lang="en-US" sz="1100" dirty="0"/>
          </a:p>
        </p:txBody>
      </p:sp>
      <p:sp>
        <p:nvSpPr>
          <p:cNvPr id="3" name="Text 1"/>
          <p:cNvSpPr/>
          <p:nvPr/>
        </p:nvSpPr>
        <p:spPr>
          <a:xfrm>
            <a:off x="457200" y="54864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SentinelAI — three layers working together</a:t>
            </a:r>
            <a:endParaRPr lang="en-US" sz="2800" dirty="0"/>
          </a:p>
        </p:txBody>
      </p:sp>
      <p:sp>
        <p:nvSpPr>
          <p:cNvPr id="4" name="Shape 2"/>
          <p:cNvSpPr/>
          <p:nvPr/>
        </p:nvSpPr>
        <p:spPr>
          <a:xfrm>
            <a:off x="347472" y="1298448"/>
            <a:ext cx="2651760" cy="3154680"/>
          </a:xfrm>
          <a:prstGeom prst="roundRect">
            <a:avLst>
              <a:gd name="adj" fmla="val 4828"/>
            </a:avLst>
          </a:prstGeom>
          <a:solidFill>
            <a:srgbClr val="132040"/>
          </a:solidFill>
          <a:ln w="6350">
            <a:solidFill>
              <a:srgbClr val="00C9A7">
                <a:alpha val="45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5" name="Shape 3"/>
          <p:cNvSpPr/>
          <p:nvPr/>
        </p:nvSpPr>
        <p:spPr>
          <a:xfrm>
            <a:off x="493776" y="1426464"/>
            <a:ext cx="1097280" cy="274320"/>
          </a:xfrm>
          <a:prstGeom prst="roundRect">
            <a:avLst>
              <a:gd name="adj" fmla="val 50000"/>
            </a:avLst>
          </a:prstGeom>
          <a:solidFill>
            <a:srgbClr val="00C9A7"/>
          </a:solidFill>
          <a:ln w="12700">
            <a:solidFill>
              <a:srgbClr val="00C9A7"/>
            </a:solidFill>
            <a:prstDash val="solid"/>
          </a:ln>
        </p:spPr>
        <p:txBody>
          <a:bodyPr/>
          <a:lstStyle/>
          <a:p>
            <a:endParaRPr lang="en-ZA"/>
          </a:p>
        </p:txBody>
      </p:sp>
      <p:sp>
        <p:nvSpPr>
          <p:cNvPr id="6" name="Text 4"/>
          <p:cNvSpPr/>
          <p:nvPr/>
        </p:nvSpPr>
        <p:spPr>
          <a:xfrm>
            <a:off x="493776" y="1426464"/>
            <a:ext cx="1097280" cy="274320"/>
          </a:xfrm>
          <a:prstGeom prst="rect">
            <a:avLst/>
          </a:prstGeom>
          <a:noFill/>
          <a:ln/>
        </p:spPr>
        <p:txBody>
          <a:bodyPr wrap="square" rtlCol="0" anchor="ctr"/>
          <a:lstStyle/>
          <a:p>
            <a:pPr marL="0" indent="0" algn="ctr">
              <a:buNone/>
            </a:pPr>
            <a:r>
              <a:rPr lang="en-US" sz="800" b="1" dirty="0">
                <a:solidFill>
                  <a:srgbClr val="0B1F3A"/>
                </a:solidFill>
                <a:latin typeface="Calibri" pitchFamily="34" charset="0"/>
                <a:ea typeface="Calibri" pitchFamily="34" charset="-122"/>
                <a:cs typeface="Calibri" pitchFamily="34" charset="-120"/>
              </a:rPr>
              <a:t>HARDWARE</a:t>
            </a:r>
            <a:endParaRPr lang="en-US" sz="800" dirty="0"/>
          </a:p>
        </p:txBody>
      </p:sp>
      <p:sp>
        <p:nvSpPr>
          <p:cNvPr id="7" name="Text 5"/>
          <p:cNvSpPr/>
          <p:nvPr/>
        </p:nvSpPr>
        <p:spPr>
          <a:xfrm>
            <a:off x="475488" y="1783080"/>
            <a:ext cx="2395728" cy="5486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Smart Sensor Nodes</a:t>
            </a:r>
            <a:endParaRPr lang="en-US" sz="1500" dirty="0"/>
          </a:p>
        </p:txBody>
      </p:sp>
      <p:sp>
        <p:nvSpPr>
          <p:cNvPr id="8" name="Text 6"/>
          <p:cNvSpPr/>
          <p:nvPr/>
        </p:nvSpPr>
        <p:spPr>
          <a:xfrm>
            <a:off x="475488" y="2377440"/>
            <a:ext cx="2395728" cy="1920240"/>
          </a:xfrm>
          <a:prstGeom prst="rect">
            <a:avLst/>
          </a:prstGeom>
          <a:noFill/>
          <a:ln/>
        </p:spPr>
        <p:txBody>
          <a:bodyPr wrap="square" rtlCol="0" anchor="t"/>
          <a:lstStyle/>
          <a:p>
            <a:pPr marL="0" indent="0">
              <a:buNone/>
            </a:pPr>
            <a:r>
              <a:rPr lang="en-US" sz="1150" dirty="0">
                <a:solidFill>
                  <a:srgbClr val="94A3B8"/>
                </a:solidFill>
                <a:latin typeface="Calibri" pitchFamily="34" charset="0"/>
                <a:ea typeface="Calibri" pitchFamily="34" charset="-122"/>
                <a:cs typeface="Calibri" pitchFamily="34" charset="-120"/>
              </a:rPr>
              <a:t>Arduino-based IoT nodes deployed at substations, traffic cabinets &amp; water pumps. Flame, tamper, motion &amp; vibration detection — 24/7.</a:t>
            </a:r>
            <a:endParaRPr lang="en-US" sz="1150" dirty="0"/>
          </a:p>
        </p:txBody>
      </p:sp>
      <p:sp>
        <p:nvSpPr>
          <p:cNvPr id="9" name="Shape 7"/>
          <p:cNvSpPr/>
          <p:nvPr/>
        </p:nvSpPr>
        <p:spPr>
          <a:xfrm>
            <a:off x="3182112" y="1298448"/>
            <a:ext cx="2651760" cy="3154680"/>
          </a:xfrm>
          <a:prstGeom prst="roundRect">
            <a:avLst>
              <a:gd name="adj" fmla="val 4828"/>
            </a:avLst>
          </a:prstGeom>
          <a:solidFill>
            <a:srgbClr val="132040"/>
          </a:solidFill>
          <a:ln w="6350">
            <a:solidFill>
              <a:srgbClr val="00C9A7">
                <a:alpha val="45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10" name="Shape 8"/>
          <p:cNvSpPr/>
          <p:nvPr/>
        </p:nvSpPr>
        <p:spPr>
          <a:xfrm>
            <a:off x="3328416" y="1426464"/>
            <a:ext cx="1097280" cy="274320"/>
          </a:xfrm>
          <a:prstGeom prst="roundRect">
            <a:avLst>
              <a:gd name="adj" fmla="val 50000"/>
            </a:avLst>
          </a:prstGeom>
          <a:solidFill>
            <a:srgbClr val="00C9A7"/>
          </a:solidFill>
          <a:ln w="12700">
            <a:solidFill>
              <a:srgbClr val="00C9A7"/>
            </a:solidFill>
            <a:prstDash val="solid"/>
          </a:ln>
        </p:spPr>
        <p:txBody>
          <a:bodyPr/>
          <a:lstStyle/>
          <a:p>
            <a:endParaRPr lang="en-ZA"/>
          </a:p>
        </p:txBody>
      </p:sp>
      <p:sp>
        <p:nvSpPr>
          <p:cNvPr id="11" name="Text 9"/>
          <p:cNvSpPr/>
          <p:nvPr/>
        </p:nvSpPr>
        <p:spPr>
          <a:xfrm>
            <a:off x="3328416" y="1426464"/>
            <a:ext cx="1097280" cy="274320"/>
          </a:xfrm>
          <a:prstGeom prst="rect">
            <a:avLst/>
          </a:prstGeom>
          <a:noFill/>
          <a:ln/>
        </p:spPr>
        <p:txBody>
          <a:bodyPr wrap="square" rtlCol="0" anchor="ctr"/>
          <a:lstStyle/>
          <a:p>
            <a:pPr marL="0" indent="0" algn="ctr">
              <a:buNone/>
            </a:pPr>
            <a:r>
              <a:rPr lang="en-US" sz="800" b="1" dirty="0">
                <a:solidFill>
                  <a:srgbClr val="0B1F3A"/>
                </a:solidFill>
                <a:latin typeface="Calibri" pitchFamily="34" charset="0"/>
                <a:ea typeface="Calibri" pitchFamily="34" charset="-122"/>
                <a:cs typeface="Calibri" pitchFamily="34" charset="-120"/>
              </a:rPr>
              <a:t>AI / ML</a:t>
            </a:r>
            <a:endParaRPr lang="en-US" sz="800" dirty="0"/>
          </a:p>
        </p:txBody>
      </p:sp>
      <p:sp>
        <p:nvSpPr>
          <p:cNvPr id="12" name="Text 10"/>
          <p:cNvSpPr/>
          <p:nvPr/>
        </p:nvSpPr>
        <p:spPr>
          <a:xfrm>
            <a:off x="3310128" y="1783080"/>
            <a:ext cx="2395728" cy="5486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AI Risk Engine</a:t>
            </a:r>
            <a:endParaRPr lang="en-US" sz="1500" dirty="0"/>
          </a:p>
        </p:txBody>
      </p:sp>
      <p:sp>
        <p:nvSpPr>
          <p:cNvPr id="13" name="Text 11"/>
          <p:cNvSpPr/>
          <p:nvPr/>
        </p:nvSpPr>
        <p:spPr>
          <a:xfrm>
            <a:off x="3310128" y="2377440"/>
            <a:ext cx="2395728" cy="1920240"/>
          </a:xfrm>
          <a:prstGeom prst="rect">
            <a:avLst/>
          </a:prstGeom>
          <a:noFill/>
          <a:ln/>
        </p:spPr>
        <p:txBody>
          <a:bodyPr wrap="square" rtlCol="0" anchor="t"/>
          <a:lstStyle/>
          <a:p>
            <a:pPr marL="0" indent="0">
              <a:buNone/>
            </a:pPr>
            <a:r>
              <a:rPr lang="en-US" sz="1150" dirty="0">
                <a:solidFill>
                  <a:srgbClr val="94A3B8"/>
                </a:solidFill>
                <a:latin typeface="Calibri" pitchFamily="34" charset="0"/>
                <a:ea typeface="Calibri" pitchFamily="34" charset="-122"/>
                <a:cs typeface="Calibri" pitchFamily="34" charset="-120"/>
              </a:rPr>
              <a:t>Every alert is scored 0–100% using sensor data, time of day &amp; historical patterns. High-risk events trigger instant multi-channel response.</a:t>
            </a:r>
            <a:endParaRPr lang="en-US" sz="1150" dirty="0"/>
          </a:p>
        </p:txBody>
      </p:sp>
      <p:sp>
        <p:nvSpPr>
          <p:cNvPr id="14" name="Shape 12"/>
          <p:cNvSpPr/>
          <p:nvPr/>
        </p:nvSpPr>
        <p:spPr>
          <a:xfrm>
            <a:off x="6016752" y="1298448"/>
            <a:ext cx="2651760" cy="3154680"/>
          </a:xfrm>
          <a:prstGeom prst="roundRect">
            <a:avLst>
              <a:gd name="adj" fmla="val 4828"/>
            </a:avLst>
          </a:prstGeom>
          <a:solidFill>
            <a:srgbClr val="132040"/>
          </a:solidFill>
          <a:ln w="6350">
            <a:solidFill>
              <a:srgbClr val="00C9A7">
                <a:alpha val="45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15" name="Shape 13"/>
          <p:cNvSpPr/>
          <p:nvPr/>
        </p:nvSpPr>
        <p:spPr>
          <a:xfrm>
            <a:off x="6163056" y="1426464"/>
            <a:ext cx="1097280" cy="274320"/>
          </a:xfrm>
          <a:prstGeom prst="roundRect">
            <a:avLst>
              <a:gd name="adj" fmla="val 50000"/>
            </a:avLst>
          </a:prstGeom>
          <a:solidFill>
            <a:srgbClr val="00C9A7"/>
          </a:solidFill>
          <a:ln w="12700">
            <a:solidFill>
              <a:srgbClr val="00C9A7"/>
            </a:solidFill>
            <a:prstDash val="solid"/>
          </a:ln>
        </p:spPr>
        <p:txBody>
          <a:bodyPr/>
          <a:lstStyle/>
          <a:p>
            <a:endParaRPr lang="en-ZA"/>
          </a:p>
        </p:txBody>
      </p:sp>
      <p:sp>
        <p:nvSpPr>
          <p:cNvPr id="16" name="Text 14"/>
          <p:cNvSpPr/>
          <p:nvPr/>
        </p:nvSpPr>
        <p:spPr>
          <a:xfrm>
            <a:off x="6163056" y="1426464"/>
            <a:ext cx="1097280" cy="274320"/>
          </a:xfrm>
          <a:prstGeom prst="rect">
            <a:avLst/>
          </a:prstGeom>
          <a:noFill/>
          <a:ln/>
        </p:spPr>
        <p:txBody>
          <a:bodyPr wrap="square" rtlCol="0" anchor="ctr"/>
          <a:lstStyle/>
          <a:p>
            <a:pPr marL="0" indent="0" algn="ctr">
              <a:buNone/>
            </a:pPr>
            <a:r>
              <a:rPr lang="en-US" sz="800" b="1" dirty="0">
                <a:solidFill>
                  <a:srgbClr val="0B1F3A"/>
                </a:solidFill>
                <a:latin typeface="Calibri" pitchFamily="34" charset="0"/>
                <a:ea typeface="Calibri" pitchFamily="34" charset="-122"/>
                <a:cs typeface="Calibri" pitchFamily="34" charset="-120"/>
              </a:rPr>
              <a:t>SOFTWARE</a:t>
            </a:r>
            <a:endParaRPr lang="en-US" sz="800" dirty="0"/>
          </a:p>
        </p:txBody>
      </p:sp>
      <p:sp>
        <p:nvSpPr>
          <p:cNvPr id="17" name="Text 15"/>
          <p:cNvSpPr/>
          <p:nvPr/>
        </p:nvSpPr>
        <p:spPr>
          <a:xfrm>
            <a:off x="6144768" y="1783080"/>
            <a:ext cx="2395728" cy="5486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Command Dashboard</a:t>
            </a:r>
            <a:endParaRPr lang="en-US" sz="1500" dirty="0"/>
          </a:p>
        </p:txBody>
      </p:sp>
      <p:sp>
        <p:nvSpPr>
          <p:cNvPr id="18" name="Text 16"/>
          <p:cNvSpPr/>
          <p:nvPr/>
        </p:nvSpPr>
        <p:spPr>
          <a:xfrm>
            <a:off x="6144768" y="2377440"/>
            <a:ext cx="2395728" cy="1920240"/>
          </a:xfrm>
          <a:prstGeom prst="rect">
            <a:avLst/>
          </a:prstGeom>
          <a:noFill/>
          <a:ln/>
        </p:spPr>
        <p:txBody>
          <a:bodyPr wrap="square" rtlCol="0" anchor="t"/>
          <a:lstStyle/>
          <a:p>
            <a:pPr marL="0" indent="0">
              <a:buNone/>
            </a:pPr>
            <a:r>
              <a:rPr lang="en-US" sz="1150" dirty="0">
                <a:solidFill>
                  <a:srgbClr val="94A3B8"/>
                </a:solidFill>
                <a:latin typeface="Calibri" pitchFamily="34" charset="0"/>
                <a:ea typeface="Calibri" pitchFamily="34" charset="-122"/>
                <a:cs typeface="Calibri" pitchFamily="34" charset="-120"/>
              </a:rPr>
              <a:t>Real-time Gauteng map with live incidents, risk scores, technician dispatch, WhatsApp alerts to SAPS, Eskom &amp; CPF coordinators.</a:t>
            </a:r>
            <a:endParaRPr lang="en-US" sz="1150" dirty="0"/>
          </a:p>
        </p:txBody>
      </p:sp>
      <p:sp>
        <p:nvSpPr>
          <p:cNvPr id="19" name="Text 17"/>
          <p:cNvSpPr/>
          <p:nvPr/>
        </p:nvSpPr>
        <p:spPr>
          <a:xfrm>
            <a:off x="2907792" y="2697480"/>
            <a:ext cx="365760" cy="365760"/>
          </a:xfrm>
          <a:prstGeom prst="rect">
            <a:avLst/>
          </a:prstGeom>
          <a:noFill/>
          <a:ln/>
        </p:spPr>
        <p:txBody>
          <a:bodyPr wrap="square" rtlCol="0" anchor="ctr"/>
          <a:lstStyle/>
          <a:p>
            <a:pPr marL="0" indent="0" algn="ctr">
              <a:buNone/>
            </a:pPr>
            <a:r>
              <a:rPr lang="en-US" sz="2200" dirty="0">
                <a:solidFill>
                  <a:srgbClr val="00C9A7"/>
                </a:solidFill>
              </a:rPr>
              <a:t>→</a:t>
            </a:r>
            <a:endParaRPr lang="en-US" sz="2200" dirty="0"/>
          </a:p>
        </p:txBody>
      </p:sp>
      <p:sp>
        <p:nvSpPr>
          <p:cNvPr id="20" name="Text 18"/>
          <p:cNvSpPr/>
          <p:nvPr/>
        </p:nvSpPr>
        <p:spPr>
          <a:xfrm>
            <a:off x="5742432" y="2697480"/>
            <a:ext cx="365760" cy="365760"/>
          </a:xfrm>
          <a:prstGeom prst="rect">
            <a:avLst/>
          </a:prstGeom>
          <a:noFill/>
          <a:ln/>
        </p:spPr>
        <p:txBody>
          <a:bodyPr wrap="square" rtlCol="0" anchor="ctr"/>
          <a:lstStyle/>
          <a:p>
            <a:pPr marL="0" indent="0" algn="ctr">
              <a:buNone/>
            </a:pPr>
            <a:r>
              <a:rPr lang="en-US" sz="2200" dirty="0">
                <a:solidFill>
                  <a:srgbClr val="00C9A7"/>
                </a:solidFill>
              </a:rPr>
              <a:t>→</a:t>
            </a:r>
            <a:endParaRPr lang="en-US" sz="2200" dirty="0"/>
          </a:p>
        </p:txBody>
      </p:sp>
      <p:sp>
        <p:nvSpPr>
          <p:cNvPr id="21" name="Shape 19"/>
          <p:cNvSpPr/>
          <p:nvPr/>
        </p:nvSpPr>
        <p:spPr>
          <a:xfrm>
            <a:off x="0" y="4754880"/>
            <a:ext cx="9144000" cy="388620"/>
          </a:xfrm>
          <a:prstGeom prst="rect">
            <a:avLst/>
          </a:prstGeom>
          <a:solidFill>
            <a:srgbClr val="00A68A"/>
          </a:solidFill>
          <a:ln w="12700">
            <a:solidFill>
              <a:srgbClr val="00A68A"/>
            </a:solidFill>
            <a:prstDash val="solid"/>
          </a:ln>
        </p:spPr>
        <p:txBody>
          <a:bodyPr/>
          <a:lstStyle/>
          <a:p>
            <a:endParaRPr lang="en-ZA"/>
          </a:p>
        </p:txBody>
      </p:sp>
      <p:sp>
        <p:nvSpPr>
          <p:cNvPr id="22" name="Text 20"/>
          <p:cNvSpPr/>
          <p:nvPr/>
        </p:nvSpPr>
        <p:spPr>
          <a:xfrm>
            <a:off x="457200" y="4773168"/>
            <a:ext cx="8229600" cy="3200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SentinelAI  ·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92608"/>
          </a:xfrm>
          <a:prstGeom prst="rect">
            <a:avLst/>
          </a:prstGeom>
          <a:noFill/>
          <a:ln/>
        </p:spPr>
        <p:txBody>
          <a:bodyPr wrap="square" rtlCol="0" anchor="ctr"/>
          <a:lstStyle/>
          <a:p>
            <a:pPr marL="0" indent="0">
              <a:buNone/>
            </a:pPr>
            <a:r>
              <a:rPr lang="en-US" sz="1100" b="1" kern="0" spc="500" dirty="0">
                <a:solidFill>
                  <a:srgbClr val="00C9A7"/>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457200" y="54864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From threat to response in under 60 seconds</a:t>
            </a:r>
            <a:endParaRPr lang="en-US" sz="2800" dirty="0"/>
          </a:p>
        </p:txBody>
      </p:sp>
      <p:sp>
        <p:nvSpPr>
          <p:cNvPr id="4" name="Shape 2"/>
          <p:cNvSpPr/>
          <p:nvPr/>
        </p:nvSpPr>
        <p:spPr>
          <a:xfrm>
            <a:off x="384048" y="1271016"/>
            <a:ext cx="658368" cy="658368"/>
          </a:xfrm>
          <a:prstGeom prst="ellipse">
            <a:avLst/>
          </a:prstGeom>
          <a:solidFill>
            <a:srgbClr val="00C9A7"/>
          </a:solidFill>
          <a:ln w="12700">
            <a:solidFill>
              <a:srgbClr val="00C9A7"/>
            </a:solidFill>
            <a:prstDash val="solid"/>
          </a:ln>
        </p:spPr>
        <p:txBody>
          <a:bodyPr/>
          <a:lstStyle/>
          <a:p>
            <a:endParaRPr lang="en-ZA"/>
          </a:p>
        </p:txBody>
      </p:sp>
      <p:sp>
        <p:nvSpPr>
          <p:cNvPr id="5" name="Text 3"/>
          <p:cNvSpPr/>
          <p:nvPr/>
        </p:nvSpPr>
        <p:spPr>
          <a:xfrm>
            <a:off x="384048" y="1271016"/>
            <a:ext cx="658368" cy="658368"/>
          </a:xfrm>
          <a:prstGeom prst="rect">
            <a:avLst/>
          </a:prstGeom>
          <a:noFill/>
          <a:ln/>
        </p:spPr>
        <p:txBody>
          <a:bodyPr wrap="square"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01</a:t>
            </a:r>
            <a:endParaRPr lang="en-US" sz="1300" dirty="0"/>
          </a:p>
        </p:txBody>
      </p:sp>
      <p:sp>
        <p:nvSpPr>
          <p:cNvPr id="6" name="Shape 4"/>
          <p:cNvSpPr/>
          <p:nvPr/>
        </p:nvSpPr>
        <p:spPr>
          <a:xfrm>
            <a:off x="1078992" y="1600200"/>
            <a:ext cx="530352" cy="0"/>
          </a:xfrm>
          <a:prstGeom prst="line">
            <a:avLst/>
          </a:prstGeom>
          <a:noFill/>
          <a:ln w="19050">
            <a:solidFill>
              <a:srgbClr val="00C9A7"/>
            </a:solidFill>
            <a:prstDash val="sysDash"/>
          </a:ln>
        </p:spPr>
        <p:txBody>
          <a:bodyPr/>
          <a:lstStyle/>
          <a:p>
            <a:endParaRPr lang="en-ZA" dirty="0"/>
          </a:p>
        </p:txBody>
      </p:sp>
      <p:sp>
        <p:nvSpPr>
          <p:cNvPr id="7" name="Shape 5"/>
          <p:cNvSpPr/>
          <p:nvPr/>
        </p:nvSpPr>
        <p:spPr>
          <a:xfrm>
            <a:off x="384048" y="2029968"/>
            <a:ext cx="1481328" cy="2423160"/>
          </a:xfrm>
          <a:prstGeom prst="roundRect">
            <a:avLst>
              <a:gd name="adj" fmla="val 6173"/>
            </a:avLst>
          </a:prstGeom>
          <a:solidFill>
            <a:srgbClr val="132040"/>
          </a:solidFill>
          <a:ln w="6350">
            <a:solidFill>
              <a:srgbClr val="00C9A7">
                <a:alpha val="3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8" name="Text 6"/>
          <p:cNvSpPr/>
          <p:nvPr/>
        </p:nvSpPr>
        <p:spPr>
          <a:xfrm>
            <a:off x="420624" y="2103120"/>
            <a:ext cx="1408176" cy="5486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Sensor fires</a:t>
            </a:r>
            <a:endParaRPr lang="en-US" sz="1150" dirty="0"/>
          </a:p>
        </p:txBody>
      </p:sp>
      <p:sp>
        <p:nvSpPr>
          <p:cNvPr id="9" name="Text 7"/>
          <p:cNvSpPr/>
          <p:nvPr/>
        </p:nvSpPr>
        <p:spPr>
          <a:xfrm>
            <a:off x="420624" y="2688336"/>
            <a:ext cx="1408176" cy="1664208"/>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Vibration, tamper, flame or darkness triggers interrupt on Arduino node</a:t>
            </a:r>
            <a:endParaRPr lang="en-US" sz="1000" dirty="0"/>
          </a:p>
        </p:txBody>
      </p:sp>
      <p:sp>
        <p:nvSpPr>
          <p:cNvPr id="10" name="Shape 8"/>
          <p:cNvSpPr/>
          <p:nvPr/>
        </p:nvSpPr>
        <p:spPr>
          <a:xfrm>
            <a:off x="2121408" y="1255702"/>
            <a:ext cx="658368" cy="658368"/>
          </a:xfrm>
          <a:prstGeom prst="ellipse">
            <a:avLst/>
          </a:prstGeom>
          <a:solidFill>
            <a:srgbClr val="00C9A7"/>
          </a:solidFill>
          <a:ln w="12700">
            <a:solidFill>
              <a:srgbClr val="00C9A7"/>
            </a:solidFill>
            <a:prstDash val="solid"/>
          </a:ln>
        </p:spPr>
        <p:txBody>
          <a:bodyPr/>
          <a:lstStyle/>
          <a:p>
            <a:endParaRPr lang="en-ZA"/>
          </a:p>
        </p:txBody>
      </p:sp>
      <p:sp>
        <p:nvSpPr>
          <p:cNvPr id="11" name="Text 9"/>
          <p:cNvSpPr/>
          <p:nvPr/>
        </p:nvSpPr>
        <p:spPr>
          <a:xfrm>
            <a:off x="2121408" y="1255702"/>
            <a:ext cx="658368" cy="658368"/>
          </a:xfrm>
          <a:prstGeom prst="rect">
            <a:avLst/>
          </a:prstGeom>
          <a:noFill/>
          <a:ln/>
        </p:spPr>
        <p:txBody>
          <a:bodyPr wrap="square"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02</a:t>
            </a:r>
            <a:endParaRPr lang="en-US" sz="1300" dirty="0"/>
          </a:p>
        </p:txBody>
      </p:sp>
      <p:sp>
        <p:nvSpPr>
          <p:cNvPr id="12" name="Shape 10"/>
          <p:cNvSpPr/>
          <p:nvPr/>
        </p:nvSpPr>
        <p:spPr>
          <a:xfrm>
            <a:off x="2816352" y="1584886"/>
            <a:ext cx="530352" cy="0"/>
          </a:xfrm>
          <a:prstGeom prst="line">
            <a:avLst/>
          </a:prstGeom>
          <a:noFill/>
          <a:ln w="19050">
            <a:solidFill>
              <a:srgbClr val="00C9A7"/>
            </a:solidFill>
            <a:prstDash val="sysDash"/>
          </a:ln>
        </p:spPr>
        <p:txBody>
          <a:bodyPr/>
          <a:lstStyle/>
          <a:p>
            <a:endParaRPr lang="en-ZA"/>
          </a:p>
        </p:txBody>
      </p:sp>
      <p:sp>
        <p:nvSpPr>
          <p:cNvPr id="13" name="Shape 11"/>
          <p:cNvSpPr/>
          <p:nvPr/>
        </p:nvSpPr>
        <p:spPr>
          <a:xfrm>
            <a:off x="2121408" y="2029968"/>
            <a:ext cx="1481328" cy="2423160"/>
          </a:xfrm>
          <a:prstGeom prst="roundRect">
            <a:avLst>
              <a:gd name="adj" fmla="val 6173"/>
            </a:avLst>
          </a:prstGeom>
          <a:solidFill>
            <a:srgbClr val="132040"/>
          </a:solidFill>
          <a:ln w="6350">
            <a:solidFill>
              <a:srgbClr val="00C9A7">
                <a:alpha val="3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14" name="Text 12"/>
          <p:cNvSpPr/>
          <p:nvPr/>
        </p:nvSpPr>
        <p:spPr>
          <a:xfrm>
            <a:off x="2157984" y="2103120"/>
            <a:ext cx="1408176" cy="5486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Data transmitted</a:t>
            </a:r>
            <a:endParaRPr lang="en-US" sz="1150" dirty="0"/>
          </a:p>
        </p:txBody>
      </p:sp>
      <p:sp>
        <p:nvSpPr>
          <p:cNvPr id="15" name="Text 13"/>
          <p:cNvSpPr/>
          <p:nvPr/>
        </p:nvSpPr>
        <p:spPr>
          <a:xfrm>
            <a:off x="2157984" y="2688336"/>
            <a:ext cx="1408176" cy="1664208"/>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JSON alert sent via WiFi/USB to backend API in real time</a:t>
            </a:r>
            <a:endParaRPr lang="en-US" sz="1000" dirty="0"/>
          </a:p>
        </p:txBody>
      </p:sp>
      <p:sp>
        <p:nvSpPr>
          <p:cNvPr id="16" name="Shape 14"/>
          <p:cNvSpPr/>
          <p:nvPr/>
        </p:nvSpPr>
        <p:spPr>
          <a:xfrm>
            <a:off x="3858768" y="1271016"/>
            <a:ext cx="658368" cy="658368"/>
          </a:xfrm>
          <a:prstGeom prst="ellipse">
            <a:avLst/>
          </a:prstGeom>
          <a:solidFill>
            <a:srgbClr val="00C9A7"/>
          </a:solidFill>
          <a:ln w="12700">
            <a:solidFill>
              <a:srgbClr val="00C9A7"/>
            </a:solidFill>
            <a:prstDash val="solid"/>
          </a:ln>
        </p:spPr>
        <p:txBody>
          <a:bodyPr/>
          <a:lstStyle/>
          <a:p>
            <a:endParaRPr lang="en-ZA"/>
          </a:p>
        </p:txBody>
      </p:sp>
      <p:sp>
        <p:nvSpPr>
          <p:cNvPr id="17" name="Text 15"/>
          <p:cNvSpPr/>
          <p:nvPr/>
        </p:nvSpPr>
        <p:spPr>
          <a:xfrm>
            <a:off x="3858768" y="1271016"/>
            <a:ext cx="658368" cy="658368"/>
          </a:xfrm>
          <a:prstGeom prst="rect">
            <a:avLst/>
          </a:prstGeom>
          <a:noFill/>
          <a:ln/>
        </p:spPr>
        <p:txBody>
          <a:bodyPr wrap="square"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03</a:t>
            </a:r>
            <a:endParaRPr lang="en-US" sz="1300" dirty="0"/>
          </a:p>
        </p:txBody>
      </p:sp>
      <p:sp>
        <p:nvSpPr>
          <p:cNvPr id="18" name="Shape 16"/>
          <p:cNvSpPr/>
          <p:nvPr/>
        </p:nvSpPr>
        <p:spPr>
          <a:xfrm>
            <a:off x="4553712" y="1600200"/>
            <a:ext cx="530352" cy="0"/>
          </a:xfrm>
          <a:prstGeom prst="line">
            <a:avLst/>
          </a:prstGeom>
          <a:noFill/>
          <a:ln w="19050">
            <a:solidFill>
              <a:srgbClr val="00C9A7"/>
            </a:solidFill>
            <a:prstDash val="sysDash"/>
          </a:ln>
        </p:spPr>
        <p:txBody>
          <a:bodyPr/>
          <a:lstStyle/>
          <a:p>
            <a:endParaRPr lang="en-ZA"/>
          </a:p>
        </p:txBody>
      </p:sp>
      <p:sp>
        <p:nvSpPr>
          <p:cNvPr id="19" name="Shape 17"/>
          <p:cNvSpPr/>
          <p:nvPr/>
        </p:nvSpPr>
        <p:spPr>
          <a:xfrm>
            <a:off x="3858768" y="2029968"/>
            <a:ext cx="1481328" cy="2423160"/>
          </a:xfrm>
          <a:prstGeom prst="roundRect">
            <a:avLst>
              <a:gd name="adj" fmla="val 6173"/>
            </a:avLst>
          </a:prstGeom>
          <a:solidFill>
            <a:srgbClr val="132040"/>
          </a:solidFill>
          <a:ln w="6350">
            <a:solidFill>
              <a:srgbClr val="00C9A7">
                <a:alpha val="3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20" name="Text 18"/>
          <p:cNvSpPr/>
          <p:nvPr/>
        </p:nvSpPr>
        <p:spPr>
          <a:xfrm>
            <a:off x="3895344" y="2103120"/>
            <a:ext cx="1408176" cy="5486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AI scores threat</a:t>
            </a:r>
            <a:endParaRPr lang="en-US" sz="1150" dirty="0"/>
          </a:p>
        </p:txBody>
      </p:sp>
      <p:sp>
        <p:nvSpPr>
          <p:cNvPr id="21" name="Text 19"/>
          <p:cNvSpPr/>
          <p:nvPr/>
        </p:nvSpPr>
        <p:spPr>
          <a:xfrm>
            <a:off x="3895344" y="2688336"/>
            <a:ext cx="1408176" cy="1664208"/>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Risk engine assigns 0–100% score using sensor + time + history</a:t>
            </a:r>
            <a:endParaRPr lang="en-US" sz="1000" dirty="0"/>
          </a:p>
        </p:txBody>
      </p:sp>
      <p:sp>
        <p:nvSpPr>
          <p:cNvPr id="22" name="Shape 20"/>
          <p:cNvSpPr/>
          <p:nvPr/>
        </p:nvSpPr>
        <p:spPr>
          <a:xfrm>
            <a:off x="5596128" y="1271016"/>
            <a:ext cx="658368" cy="658368"/>
          </a:xfrm>
          <a:prstGeom prst="ellipse">
            <a:avLst/>
          </a:prstGeom>
          <a:solidFill>
            <a:srgbClr val="00C9A7"/>
          </a:solidFill>
          <a:ln w="12700">
            <a:solidFill>
              <a:srgbClr val="00C9A7"/>
            </a:solidFill>
            <a:prstDash val="solid"/>
          </a:ln>
        </p:spPr>
        <p:txBody>
          <a:bodyPr/>
          <a:lstStyle/>
          <a:p>
            <a:endParaRPr lang="en-ZA"/>
          </a:p>
        </p:txBody>
      </p:sp>
      <p:sp>
        <p:nvSpPr>
          <p:cNvPr id="23" name="Text 21"/>
          <p:cNvSpPr/>
          <p:nvPr/>
        </p:nvSpPr>
        <p:spPr>
          <a:xfrm>
            <a:off x="5596128" y="1271016"/>
            <a:ext cx="658368" cy="658368"/>
          </a:xfrm>
          <a:prstGeom prst="rect">
            <a:avLst/>
          </a:prstGeom>
          <a:noFill/>
          <a:ln/>
        </p:spPr>
        <p:txBody>
          <a:bodyPr wrap="square"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04</a:t>
            </a:r>
            <a:endParaRPr lang="en-US" sz="1300" dirty="0"/>
          </a:p>
        </p:txBody>
      </p:sp>
      <p:sp>
        <p:nvSpPr>
          <p:cNvPr id="24" name="Shape 22"/>
          <p:cNvSpPr/>
          <p:nvPr/>
        </p:nvSpPr>
        <p:spPr>
          <a:xfrm>
            <a:off x="6291072" y="1600200"/>
            <a:ext cx="530352" cy="0"/>
          </a:xfrm>
          <a:prstGeom prst="line">
            <a:avLst/>
          </a:prstGeom>
          <a:noFill/>
          <a:ln w="19050">
            <a:solidFill>
              <a:srgbClr val="00C9A7"/>
            </a:solidFill>
            <a:prstDash val="sysDash"/>
          </a:ln>
        </p:spPr>
        <p:txBody>
          <a:bodyPr/>
          <a:lstStyle/>
          <a:p>
            <a:endParaRPr lang="en-ZA"/>
          </a:p>
        </p:txBody>
      </p:sp>
      <p:sp>
        <p:nvSpPr>
          <p:cNvPr id="25" name="Shape 23"/>
          <p:cNvSpPr/>
          <p:nvPr/>
        </p:nvSpPr>
        <p:spPr>
          <a:xfrm>
            <a:off x="5596128" y="2029968"/>
            <a:ext cx="1481328" cy="2423160"/>
          </a:xfrm>
          <a:prstGeom prst="roundRect">
            <a:avLst>
              <a:gd name="adj" fmla="val 6173"/>
            </a:avLst>
          </a:prstGeom>
          <a:solidFill>
            <a:srgbClr val="132040"/>
          </a:solidFill>
          <a:ln w="6350">
            <a:solidFill>
              <a:srgbClr val="00C9A7">
                <a:alpha val="3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26" name="Text 24"/>
          <p:cNvSpPr/>
          <p:nvPr/>
        </p:nvSpPr>
        <p:spPr>
          <a:xfrm>
            <a:off x="5632704" y="2103120"/>
            <a:ext cx="1408176" cy="5486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Alert dispatched</a:t>
            </a:r>
            <a:endParaRPr lang="en-US" sz="1150" dirty="0"/>
          </a:p>
        </p:txBody>
      </p:sp>
      <p:sp>
        <p:nvSpPr>
          <p:cNvPr id="27" name="Text 25"/>
          <p:cNvSpPr/>
          <p:nvPr/>
        </p:nvSpPr>
        <p:spPr>
          <a:xfrm>
            <a:off x="5632704" y="2688336"/>
            <a:ext cx="1408176" cy="1664208"/>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WhatsApp to SAPS, Eskom &amp; CPF. Dashboard map updates instantly</a:t>
            </a:r>
            <a:endParaRPr lang="en-US" sz="1000" dirty="0"/>
          </a:p>
        </p:txBody>
      </p:sp>
      <p:sp>
        <p:nvSpPr>
          <p:cNvPr id="28" name="Shape 26"/>
          <p:cNvSpPr/>
          <p:nvPr/>
        </p:nvSpPr>
        <p:spPr>
          <a:xfrm>
            <a:off x="7333488" y="1298448"/>
            <a:ext cx="658368" cy="658368"/>
          </a:xfrm>
          <a:prstGeom prst="ellipse">
            <a:avLst/>
          </a:prstGeom>
          <a:solidFill>
            <a:srgbClr val="00C9A7"/>
          </a:solidFill>
          <a:ln w="12700">
            <a:solidFill>
              <a:srgbClr val="00C9A7"/>
            </a:solidFill>
            <a:prstDash val="solid"/>
          </a:ln>
        </p:spPr>
        <p:txBody>
          <a:bodyPr/>
          <a:lstStyle/>
          <a:p>
            <a:endParaRPr lang="en-ZA"/>
          </a:p>
        </p:txBody>
      </p:sp>
      <p:sp>
        <p:nvSpPr>
          <p:cNvPr id="29" name="Text 27"/>
          <p:cNvSpPr/>
          <p:nvPr/>
        </p:nvSpPr>
        <p:spPr>
          <a:xfrm>
            <a:off x="7333488" y="1298448"/>
            <a:ext cx="658368" cy="658368"/>
          </a:xfrm>
          <a:prstGeom prst="rect">
            <a:avLst/>
          </a:prstGeom>
          <a:noFill/>
          <a:ln/>
        </p:spPr>
        <p:txBody>
          <a:bodyPr wrap="square"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05</a:t>
            </a:r>
            <a:endParaRPr lang="en-US" sz="1300" dirty="0"/>
          </a:p>
        </p:txBody>
      </p:sp>
      <p:sp>
        <p:nvSpPr>
          <p:cNvPr id="30" name="Shape 28"/>
          <p:cNvSpPr/>
          <p:nvPr/>
        </p:nvSpPr>
        <p:spPr>
          <a:xfrm>
            <a:off x="7333488" y="2029968"/>
            <a:ext cx="1481328" cy="2423160"/>
          </a:xfrm>
          <a:prstGeom prst="roundRect">
            <a:avLst>
              <a:gd name="adj" fmla="val 6173"/>
            </a:avLst>
          </a:prstGeom>
          <a:solidFill>
            <a:srgbClr val="132040"/>
          </a:solidFill>
          <a:ln w="6350">
            <a:solidFill>
              <a:srgbClr val="00C9A7">
                <a:alpha val="3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31" name="Text 29"/>
          <p:cNvSpPr/>
          <p:nvPr/>
        </p:nvSpPr>
        <p:spPr>
          <a:xfrm>
            <a:off x="7370064" y="2103120"/>
            <a:ext cx="1408176" cy="5486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Job created</a:t>
            </a:r>
            <a:endParaRPr lang="en-US" sz="1150" dirty="0"/>
          </a:p>
        </p:txBody>
      </p:sp>
      <p:sp>
        <p:nvSpPr>
          <p:cNvPr id="32" name="Text 30"/>
          <p:cNvSpPr/>
          <p:nvPr/>
        </p:nvSpPr>
        <p:spPr>
          <a:xfrm>
            <a:off x="7370064" y="2688336"/>
            <a:ext cx="1408176" cy="1664208"/>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Technician dispatched. Incident tracked to resolution. Report generated</a:t>
            </a:r>
            <a:endParaRPr lang="en-US" sz="1000" dirty="0"/>
          </a:p>
        </p:txBody>
      </p:sp>
      <p:sp>
        <p:nvSpPr>
          <p:cNvPr id="33" name="Shape 31"/>
          <p:cNvSpPr/>
          <p:nvPr/>
        </p:nvSpPr>
        <p:spPr>
          <a:xfrm>
            <a:off x="0" y="4754880"/>
            <a:ext cx="9144000" cy="388620"/>
          </a:xfrm>
          <a:prstGeom prst="rect">
            <a:avLst/>
          </a:prstGeom>
          <a:solidFill>
            <a:srgbClr val="00A68A"/>
          </a:solidFill>
          <a:ln w="12700">
            <a:solidFill>
              <a:srgbClr val="00A68A"/>
            </a:solidFill>
            <a:prstDash val="solid"/>
          </a:ln>
        </p:spPr>
        <p:txBody>
          <a:bodyPr/>
          <a:lstStyle/>
          <a:p>
            <a:endParaRPr lang="en-ZA"/>
          </a:p>
        </p:txBody>
      </p:sp>
      <p:sp>
        <p:nvSpPr>
          <p:cNvPr id="34" name="Text 32"/>
          <p:cNvSpPr/>
          <p:nvPr/>
        </p:nvSpPr>
        <p:spPr>
          <a:xfrm>
            <a:off x="457200" y="4773168"/>
            <a:ext cx="8229600" cy="3200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SentinelAI  ·  2026</a:t>
            </a:r>
            <a:endParaRPr lang="en-US" sz="1000" dirty="0"/>
          </a:p>
        </p:txBody>
      </p:sp>
      <p:sp>
        <p:nvSpPr>
          <p:cNvPr id="35" name="Shape 22">
            <a:extLst>
              <a:ext uri="{FF2B5EF4-FFF2-40B4-BE49-F238E27FC236}">
                <a16:creationId xmlns:a16="http://schemas.microsoft.com/office/drawing/2014/main" id="{F3A529F4-905E-EFFC-EC31-8AE5D3070AFD}"/>
              </a:ext>
            </a:extLst>
          </p:cNvPr>
          <p:cNvSpPr/>
          <p:nvPr/>
        </p:nvSpPr>
        <p:spPr>
          <a:xfrm>
            <a:off x="7991856" y="1600200"/>
            <a:ext cx="530352" cy="0"/>
          </a:xfrm>
          <a:prstGeom prst="line">
            <a:avLst/>
          </a:prstGeom>
          <a:noFill/>
          <a:ln w="19050">
            <a:solidFill>
              <a:srgbClr val="00C9A7"/>
            </a:solidFill>
            <a:prstDash val="sysDash"/>
          </a:ln>
        </p:spPr>
        <p:txBody>
          <a:bodyPr/>
          <a:lstStyle/>
          <a:p>
            <a:endParaRPr lang="en-ZA"/>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92608"/>
          </a:xfrm>
          <a:prstGeom prst="rect">
            <a:avLst/>
          </a:prstGeom>
          <a:noFill/>
          <a:ln/>
        </p:spPr>
        <p:txBody>
          <a:bodyPr wrap="square" rtlCol="0" anchor="ctr"/>
          <a:lstStyle/>
          <a:p>
            <a:pPr marL="0" indent="0">
              <a:buNone/>
            </a:pPr>
            <a:r>
              <a:rPr lang="en-US" sz="1100" b="1" kern="0" spc="500" dirty="0">
                <a:solidFill>
                  <a:srgbClr val="00C9A7"/>
                </a:solidFill>
                <a:latin typeface="Calibri" pitchFamily="34" charset="0"/>
                <a:ea typeface="Calibri" pitchFamily="34" charset="-122"/>
                <a:cs typeface="Calibri" pitchFamily="34" charset="-120"/>
              </a:rPr>
              <a:t>TECHNOLOGY</a:t>
            </a:r>
            <a:endParaRPr lang="en-US" sz="1100" dirty="0"/>
          </a:p>
        </p:txBody>
      </p:sp>
      <p:sp>
        <p:nvSpPr>
          <p:cNvPr id="3" name="Text 1"/>
          <p:cNvSpPr/>
          <p:nvPr/>
        </p:nvSpPr>
        <p:spPr>
          <a:xfrm>
            <a:off x="457200" y="54864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Built with proven, deployable technology</a:t>
            </a:r>
            <a:endParaRPr lang="en-US" sz="2800" dirty="0"/>
          </a:p>
        </p:txBody>
      </p:sp>
      <p:sp>
        <p:nvSpPr>
          <p:cNvPr id="4" name="Shape 2"/>
          <p:cNvSpPr/>
          <p:nvPr/>
        </p:nvSpPr>
        <p:spPr>
          <a:xfrm>
            <a:off x="365760" y="1261872"/>
            <a:ext cx="3840480" cy="3246120"/>
          </a:xfrm>
          <a:prstGeom prst="roundRect">
            <a:avLst>
              <a:gd name="adj" fmla="val 3380"/>
            </a:avLst>
          </a:prstGeom>
          <a:solidFill>
            <a:srgbClr val="132040"/>
          </a:solidFill>
          <a:ln w="6350">
            <a:solidFill>
              <a:srgbClr val="00C9A7">
                <a:alpha val="45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5" name="Text 3"/>
          <p:cNvSpPr/>
          <p:nvPr/>
        </p:nvSpPr>
        <p:spPr>
          <a:xfrm>
            <a:off x="502920" y="1371600"/>
            <a:ext cx="3566160" cy="329184"/>
          </a:xfrm>
          <a:prstGeom prst="rect">
            <a:avLst/>
          </a:prstGeom>
          <a:noFill/>
          <a:ln/>
        </p:spPr>
        <p:txBody>
          <a:bodyPr wrap="square" rtlCol="0" anchor="ctr"/>
          <a:lstStyle/>
          <a:p>
            <a:pPr marL="0" indent="0">
              <a:buNone/>
            </a:pPr>
            <a:r>
              <a:rPr lang="en-US" sz="1300" b="1" dirty="0">
                <a:solidFill>
                  <a:srgbClr val="00C9A7"/>
                </a:solidFill>
                <a:latin typeface="Calibri" pitchFamily="34" charset="0"/>
                <a:ea typeface="Calibri" pitchFamily="34" charset="-122"/>
                <a:cs typeface="Calibri" pitchFamily="34" charset="-120"/>
              </a:rPr>
              <a:t>Hardware</a:t>
            </a:r>
            <a:endParaRPr lang="en-US" sz="1300" dirty="0"/>
          </a:p>
        </p:txBody>
      </p:sp>
      <p:sp>
        <p:nvSpPr>
          <p:cNvPr id="6" name="Text 4"/>
          <p:cNvSpPr/>
          <p:nvPr/>
        </p:nvSpPr>
        <p:spPr>
          <a:xfrm>
            <a:off x="548640" y="1773936"/>
            <a:ext cx="201168" cy="329184"/>
          </a:xfrm>
          <a:prstGeom prst="rect">
            <a:avLst/>
          </a:prstGeom>
          <a:noFill/>
          <a:ln/>
        </p:spPr>
        <p:txBody>
          <a:bodyPr wrap="square" rtlCol="0" anchor="ctr"/>
          <a:lstStyle/>
          <a:p>
            <a:pPr marL="0" indent="0">
              <a:buNone/>
            </a:pPr>
            <a:r>
              <a:rPr lang="en-US" sz="1000" dirty="0">
                <a:solidFill>
                  <a:srgbClr val="00C9A7"/>
                </a:solidFill>
                <a:latin typeface="Calibri" pitchFamily="34" charset="0"/>
                <a:ea typeface="Calibri" pitchFamily="34" charset="-122"/>
                <a:cs typeface="Calibri" pitchFamily="34" charset="-120"/>
              </a:rPr>
              <a:t>▸ </a:t>
            </a:r>
            <a:endParaRPr lang="en-US" sz="1000" dirty="0"/>
          </a:p>
        </p:txBody>
      </p:sp>
      <p:sp>
        <p:nvSpPr>
          <p:cNvPr id="7" name="Text 5"/>
          <p:cNvSpPr/>
          <p:nvPr/>
        </p:nvSpPr>
        <p:spPr>
          <a:xfrm>
            <a:off x="749808" y="1773936"/>
            <a:ext cx="155448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Arduino Uno</a:t>
            </a:r>
            <a:endParaRPr lang="en-US" sz="1100" dirty="0"/>
          </a:p>
        </p:txBody>
      </p:sp>
      <p:sp>
        <p:nvSpPr>
          <p:cNvPr id="8" name="Text 6"/>
          <p:cNvSpPr/>
          <p:nvPr/>
        </p:nvSpPr>
        <p:spPr>
          <a:xfrm>
            <a:off x="2304288" y="1773936"/>
            <a:ext cx="1737360" cy="329184"/>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Main sensor controller</a:t>
            </a:r>
            <a:endParaRPr lang="en-US" sz="1050" dirty="0"/>
          </a:p>
        </p:txBody>
      </p:sp>
      <p:sp>
        <p:nvSpPr>
          <p:cNvPr id="9" name="Text 7"/>
          <p:cNvSpPr/>
          <p:nvPr/>
        </p:nvSpPr>
        <p:spPr>
          <a:xfrm>
            <a:off x="548640" y="2231136"/>
            <a:ext cx="201168" cy="329184"/>
          </a:xfrm>
          <a:prstGeom prst="rect">
            <a:avLst/>
          </a:prstGeom>
          <a:noFill/>
          <a:ln/>
        </p:spPr>
        <p:txBody>
          <a:bodyPr wrap="square" rtlCol="0" anchor="ctr"/>
          <a:lstStyle/>
          <a:p>
            <a:pPr marL="0" indent="0">
              <a:buNone/>
            </a:pPr>
            <a:r>
              <a:rPr lang="en-US" sz="1000" dirty="0">
                <a:solidFill>
                  <a:srgbClr val="00C9A7"/>
                </a:solidFill>
                <a:latin typeface="Calibri" pitchFamily="34" charset="0"/>
                <a:ea typeface="Calibri" pitchFamily="34" charset="-122"/>
                <a:cs typeface="Calibri" pitchFamily="34" charset="-120"/>
              </a:rPr>
              <a:t>▸ </a:t>
            </a:r>
            <a:endParaRPr lang="en-US" sz="1000" dirty="0"/>
          </a:p>
        </p:txBody>
      </p:sp>
      <p:sp>
        <p:nvSpPr>
          <p:cNvPr id="10" name="Text 8"/>
          <p:cNvSpPr/>
          <p:nvPr/>
        </p:nvSpPr>
        <p:spPr>
          <a:xfrm>
            <a:off x="749808" y="2231136"/>
            <a:ext cx="155448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KY-026 Flame sensor</a:t>
            </a:r>
            <a:endParaRPr lang="en-US" sz="1100" dirty="0"/>
          </a:p>
        </p:txBody>
      </p:sp>
      <p:sp>
        <p:nvSpPr>
          <p:cNvPr id="11" name="Text 9"/>
          <p:cNvSpPr/>
          <p:nvPr/>
        </p:nvSpPr>
        <p:spPr>
          <a:xfrm>
            <a:off x="2304288" y="2231136"/>
            <a:ext cx="1737360" cy="329184"/>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Heat &amp; fire detection</a:t>
            </a:r>
            <a:endParaRPr lang="en-US" sz="1050" dirty="0"/>
          </a:p>
        </p:txBody>
      </p:sp>
      <p:sp>
        <p:nvSpPr>
          <p:cNvPr id="12" name="Text 10"/>
          <p:cNvSpPr/>
          <p:nvPr/>
        </p:nvSpPr>
        <p:spPr>
          <a:xfrm>
            <a:off x="548640" y="2688336"/>
            <a:ext cx="201168" cy="329184"/>
          </a:xfrm>
          <a:prstGeom prst="rect">
            <a:avLst/>
          </a:prstGeom>
          <a:noFill/>
          <a:ln/>
        </p:spPr>
        <p:txBody>
          <a:bodyPr wrap="square" rtlCol="0" anchor="ctr"/>
          <a:lstStyle/>
          <a:p>
            <a:pPr marL="0" indent="0">
              <a:buNone/>
            </a:pPr>
            <a:r>
              <a:rPr lang="en-US" sz="1000" dirty="0">
                <a:solidFill>
                  <a:srgbClr val="00C9A7"/>
                </a:solidFill>
                <a:latin typeface="Calibri" pitchFamily="34" charset="0"/>
                <a:ea typeface="Calibri" pitchFamily="34" charset="-122"/>
                <a:cs typeface="Calibri" pitchFamily="34" charset="-120"/>
              </a:rPr>
              <a:t>▸ </a:t>
            </a:r>
            <a:endParaRPr lang="en-US" sz="1000" dirty="0"/>
          </a:p>
        </p:txBody>
      </p:sp>
      <p:sp>
        <p:nvSpPr>
          <p:cNvPr id="13" name="Text 11"/>
          <p:cNvSpPr/>
          <p:nvPr/>
        </p:nvSpPr>
        <p:spPr>
          <a:xfrm>
            <a:off x="749808" y="2688336"/>
            <a:ext cx="155448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Reed switch module</a:t>
            </a:r>
            <a:endParaRPr lang="en-US" sz="1100" dirty="0"/>
          </a:p>
        </p:txBody>
      </p:sp>
      <p:sp>
        <p:nvSpPr>
          <p:cNvPr id="14" name="Text 12"/>
          <p:cNvSpPr/>
          <p:nvPr/>
        </p:nvSpPr>
        <p:spPr>
          <a:xfrm>
            <a:off x="2304288" y="2688336"/>
            <a:ext cx="1737360" cy="329184"/>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Cabinet tamper detection</a:t>
            </a:r>
            <a:endParaRPr lang="en-US" sz="1050" dirty="0"/>
          </a:p>
        </p:txBody>
      </p:sp>
      <p:sp>
        <p:nvSpPr>
          <p:cNvPr id="15" name="Text 13"/>
          <p:cNvSpPr/>
          <p:nvPr/>
        </p:nvSpPr>
        <p:spPr>
          <a:xfrm>
            <a:off x="548640" y="3145536"/>
            <a:ext cx="201168" cy="329184"/>
          </a:xfrm>
          <a:prstGeom prst="rect">
            <a:avLst/>
          </a:prstGeom>
          <a:noFill/>
          <a:ln/>
        </p:spPr>
        <p:txBody>
          <a:bodyPr wrap="square" rtlCol="0" anchor="ctr"/>
          <a:lstStyle/>
          <a:p>
            <a:pPr marL="0" indent="0">
              <a:buNone/>
            </a:pPr>
            <a:r>
              <a:rPr lang="en-US" sz="1000" dirty="0">
                <a:solidFill>
                  <a:srgbClr val="00C9A7"/>
                </a:solidFill>
                <a:latin typeface="Calibri" pitchFamily="34" charset="0"/>
                <a:ea typeface="Calibri" pitchFamily="34" charset="-122"/>
                <a:cs typeface="Calibri" pitchFamily="34" charset="-120"/>
              </a:rPr>
              <a:t>▸ </a:t>
            </a:r>
            <a:endParaRPr lang="en-US" sz="1000" dirty="0"/>
          </a:p>
        </p:txBody>
      </p:sp>
      <p:sp>
        <p:nvSpPr>
          <p:cNvPr id="16" name="Text 14"/>
          <p:cNvSpPr/>
          <p:nvPr/>
        </p:nvSpPr>
        <p:spPr>
          <a:xfrm>
            <a:off x="749808" y="3145536"/>
            <a:ext cx="155448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KY-018 LDR sensor</a:t>
            </a:r>
            <a:endParaRPr lang="en-US" sz="1100" dirty="0"/>
          </a:p>
        </p:txBody>
      </p:sp>
      <p:sp>
        <p:nvSpPr>
          <p:cNvPr id="17" name="Text 15"/>
          <p:cNvSpPr/>
          <p:nvPr/>
        </p:nvSpPr>
        <p:spPr>
          <a:xfrm>
            <a:off x="2304288" y="3145536"/>
            <a:ext cx="1737360" cy="329184"/>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Motion via light blocking</a:t>
            </a:r>
            <a:endParaRPr lang="en-US" sz="1050" dirty="0"/>
          </a:p>
        </p:txBody>
      </p:sp>
      <p:sp>
        <p:nvSpPr>
          <p:cNvPr id="18" name="Text 16"/>
          <p:cNvSpPr/>
          <p:nvPr/>
        </p:nvSpPr>
        <p:spPr>
          <a:xfrm>
            <a:off x="548640" y="3602736"/>
            <a:ext cx="201168" cy="329184"/>
          </a:xfrm>
          <a:prstGeom prst="rect">
            <a:avLst/>
          </a:prstGeom>
          <a:noFill/>
          <a:ln/>
        </p:spPr>
        <p:txBody>
          <a:bodyPr wrap="square" rtlCol="0" anchor="ctr"/>
          <a:lstStyle/>
          <a:p>
            <a:pPr marL="0" indent="0">
              <a:buNone/>
            </a:pPr>
            <a:r>
              <a:rPr lang="en-US" sz="1000" dirty="0">
                <a:solidFill>
                  <a:srgbClr val="00C9A7"/>
                </a:solidFill>
                <a:latin typeface="Calibri" pitchFamily="34" charset="0"/>
                <a:ea typeface="Calibri" pitchFamily="34" charset="-122"/>
                <a:cs typeface="Calibri" pitchFamily="34" charset="-120"/>
              </a:rPr>
              <a:t>▸ </a:t>
            </a:r>
            <a:endParaRPr lang="en-US" sz="1000" dirty="0"/>
          </a:p>
        </p:txBody>
      </p:sp>
      <p:sp>
        <p:nvSpPr>
          <p:cNvPr id="19" name="Text 17"/>
          <p:cNvSpPr/>
          <p:nvPr/>
        </p:nvSpPr>
        <p:spPr>
          <a:xfrm>
            <a:off x="749808" y="3602736"/>
            <a:ext cx="155448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KY-012 Active buzzer</a:t>
            </a:r>
            <a:endParaRPr lang="en-US" sz="1100" dirty="0"/>
          </a:p>
        </p:txBody>
      </p:sp>
      <p:sp>
        <p:nvSpPr>
          <p:cNvPr id="20" name="Text 18"/>
          <p:cNvSpPr/>
          <p:nvPr/>
        </p:nvSpPr>
        <p:spPr>
          <a:xfrm>
            <a:off x="2304288" y="3602736"/>
            <a:ext cx="1737360" cy="329184"/>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Local audible alarm</a:t>
            </a:r>
            <a:endParaRPr lang="en-US" sz="1050" dirty="0"/>
          </a:p>
        </p:txBody>
      </p:sp>
      <p:sp>
        <p:nvSpPr>
          <p:cNvPr id="21" name="Text 19"/>
          <p:cNvSpPr/>
          <p:nvPr/>
        </p:nvSpPr>
        <p:spPr>
          <a:xfrm>
            <a:off x="548640" y="4059936"/>
            <a:ext cx="201168" cy="329184"/>
          </a:xfrm>
          <a:prstGeom prst="rect">
            <a:avLst/>
          </a:prstGeom>
          <a:noFill/>
          <a:ln/>
        </p:spPr>
        <p:txBody>
          <a:bodyPr wrap="square" rtlCol="0" anchor="ctr"/>
          <a:lstStyle/>
          <a:p>
            <a:pPr marL="0" indent="0">
              <a:buNone/>
            </a:pPr>
            <a:r>
              <a:rPr lang="en-US" sz="1000" dirty="0">
                <a:solidFill>
                  <a:srgbClr val="00C9A7"/>
                </a:solidFill>
                <a:latin typeface="Calibri" pitchFamily="34" charset="0"/>
                <a:ea typeface="Calibri" pitchFamily="34" charset="-122"/>
                <a:cs typeface="Calibri" pitchFamily="34" charset="-120"/>
              </a:rPr>
              <a:t>▸ </a:t>
            </a:r>
            <a:endParaRPr lang="en-US" sz="1000" dirty="0"/>
          </a:p>
        </p:txBody>
      </p:sp>
      <p:sp>
        <p:nvSpPr>
          <p:cNvPr id="22" name="Text 20"/>
          <p:cNvSpPr/>
          <p:nvPr/>
        </p:nvSpPr>
        <p:spPr>
          <a:xfrm>
            <a:off x="749808" y="4059936"/>
            <a:ext cx="155448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USB serial bridge</a:t>
            </a:r>
            <a:endParaRPr lang="en-US" sz="1100" dirty="0"/>
          </a:p>
        </p:txBody>
      </p:sp>
      <p:sp>
        <p:nvSpPr>
          <p:cNvPr id="23" name="Text 21"/>
          <p:cNvSpPr/>
          <p:nvPr/>
        </p:nvSpPr>
        <p:spPr>
          <a:xfrm>
            <a:off x="2304288" y="4059936"/>
            <a:ext cx="1737360" cy="329184"/>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Data link to laptop / server</a:t>
            </a:r>
            <a:endParaRPr lang="en-US" sz="1050" dirty="0"/>
          </a:p>
        </p:txBody>
      </p:sp>
      <p:sp>
        <p:nvSpPr>
          <p:cNvPr id="24" name="Shape 22"/>
          <p:cNvSpPr/>
          <p:nvPr/>
        </p:nvSpPr>
        <p:spPr>
          <a:xfrm>
            <a:off x="4572000" y="1261872"/>
            <a:ext cx="4160520" cy="3246120"/>
          </a:xfrm>
          <a:prstGeom prst="roundRect">
            <a:avLst>
              <a:gd name="adj" fmla="val 3380"/>
            </a:avLst>
          </a:prstGeom>
          <a:solidFill>
            <a:srgbClr val="132040"/>
          </a:solidFill>
          <a:ln w="6350">
            <a:solidFill>
              <a:srgbClr val="00C9A7">
                <a:alpha val="45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25" name="Text 23"/>
          <p:cNvSpPr/>
          <p:nvPr/>
        </p:nvSpPr>
        <p:spPr>
          <a:xfrm>
            <a:off x="4709160" y="1371600"/>
            <a:ext cx="3840480" cy="329184"/>
          </a:xfrm>
          <a:prstGeom prst="rect">
            <a:avLst/>
          </a:prstGeom>
          <a:noFill/>
          <a:ln/>
        </p:spPr>
        <p:txBody>
          <a:bodyPr wrap="square" rtlCol="0" anchor="ctr"/>
          <a:lstStyle/>
          <a:p>
            <a:pPr marL="0" indent="0">
              <a:buNone/>
            </a:pPr>
            <a:r>
              <a:rPr lang="en-US" sz="1300" b="1" dirty="0">
                <a:solidFill>
                  <a:srgbClr val="00C9A7"/>
                </a:solidFill>
                <a:latin typeface="Calibri" pitchFamily="34" charset="0"/>
                <a:ea typeface="Calibri" pitchFamily="34" charset="-122"/>
                <a:cs typeface="Calibri" pitchFamily="34" charset="-120"/>
              </a:rPr>
              <a:t>Software &amp; AI</a:t>
            </a:r>
            <a:endParaRPr lang="en-US" sz="1300" dirty="0"/>
          </a:p>
        </p:txBody>
      </p:sp>
      <p:sp>
        <p:nvSpPr>
          <p:cNvPr id="26" name="Text 24"/>
          <p:cNvSpPr/>
          <p:nvPr/>
        </p:nvSpPr>
        <p:spPr>
          <a:xfrm>
            <a:off x="4736592" y="1773936"/>
            <a:ext cx="201168" cy="329184"/>
          </a:xfrm>
          <a:prstGeom prst="rect">
            <a:avLst/>
          </a:prstGeom>
          <a:noFill/>
          <a:ln/>
        </p:spPr>
        <p:txBody>
          <a:bodyPr wrap="square" rtlCol="0" anchor="ctr"/>
          <a:lstStyle/>
          <a:p>
            <a:pPr marL="0" indent="0">
              <a:buNone/>
            </a:pPr>
            <a:r>
              <a:rPr lang="en-US" sz="1000" dirty="0">
                <a:solidFill>
                  <a:srgbClr val="00C9A7"/>
                </a:solidFill>
                <a:latin typeface="Calibri" pitchFamily="34" charset="0"/>
                <a:ea typeface="Calibri" pitchFamily="34" charset="-122"/>
                <a:cs typeface="Calibri" pitchFamily="34" charset="-120"/>
              </a:rPr>
              <a:t>▸ </a:t>
            </a:r>
            <a:endParaRPr lang="en-US" sz="1000" dirty="0"/>
          </a:p>
        </p:txBody>
      </p:sp>
      <p:sp>
        <p:nvSpPr>
          <p:cNvPr id="27" name="Text 25"/>
          <p:cNvSpPr/>
          <p:nvPr/>
        </p:nvSpPr>
        <p:spPr>
          <a:xfrm>
            <a:off x="4937760" y="1773936"/>
            <a:ext cx="173736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FastAPI (Python)</a:t>
            </a:r>
            <a:endParaRPr lang="en-US" sz="1100" dirty="0"/>
          </a:p>
        </p:txBody>
      </p:sp>
      <p:sp>
        <p:nvSpPr>
          <p:cNvPr id="28" name="Text 26"/>
          <p:cNvSpPr/>
          <p:nvPr/>
        </p:nvSpPr>
        <p:spPr>
          <a:xfrm>
            <a:off x="6675120" y="1773936"/>
            <a:ext cx="1920240" cy="329184"/>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Backend REST API + AI engine</a:t>
            </a:r>
            <a:endParaRPr lang="en-US" sz="1050" dirty="0"/>
          </a:p>
        </p:txBody>
      </p:sp>
      <p:sp>
        <p:nvSpPr>
          <p:cNvPr id="29" name="Text 27"/>
          <p:cNvSpPr/>
          <p:nvPr/>
        </p:nvSpPr>
        <p:spPr>
          <a:xfrm>
            <a:off x="4736592" y="2231136"/>
            <a:ext cx="201168" cy="329184"/>
          </a:xfrm>
          <a:prstGeom prst="rect">
            <a:avLst/>
          </a:prstGeom>
          <a:noFill/>
          <a:ln/>
        </p:spPr>
        <p:txBody>
          <a:bodyPr wrap="square" rtlCol="0" anchor="ctr"/>
          <a:lstStyle/>
          <a:p>
            <a:pPr marL="0" indent="0">
              <a:buNone/>
            </a:pPr>
            <a:r>
              <a:rPr lang="en-US" sz="1000" dirty="0">
                <a:solidFill>
                  <a:srgbClr val="00C9A7"/>
                </a:solidFill>
                <a:latin typeface="Calibri" pitchFamily="34" charset="0"/>
                <a:ea typeface="Calibri" pitchFamily="34" charset="-122"/>
                <a:cs typeface="Calibri" pitchFamily="34" charset="-120"/>
              </a:rPr>
              <a:t>▸ </a:t>
            </a:r>
            <a:endParaRPr lang="en-US" sz="1000" dirty="0"/>
          </a:p>
        </p:txBody>
      </p:sp>
      <p:sp>
        <p:nvSpPr>
          <p:cNvPr id="30" name="Text 28"/>
          <p:cNvSpPr/>
          <p:nvPr/>
        </p:nvSpPr>
        <p:spPr>
          <a:xfrm>
            <a:off x="4937760" y="2231136"/>
            <a:ext cx="173736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SQLite / PostgreSQL</a:t>
            </a:r>
            <a:endParaRPr lang="en-US" sz="1100" dirty="0"/>
          </a:p>
        </p:txBody>
      </p:sp>
      <p:sp>
        <p:nvSpPr>
          <p:cNvPr id="31" name="Text 29"/>
          <p:cNvSpPr/>
          <p:nvPr/>
        </p:nvSpPr>
        <p:spPr>
          <a:xfrm>
            <a:off x="6675120" y="2231136"/>
            <a:ext cx="1920240" cy="329184"/>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Incident &amp; risk score database</a:t>
            </a:r>
            <a:endParaRPr lang="en-US" sz="1050" dirty="0"/>
          </a:p>
        </p:txBody>
      </p:sp>
      <p:sp>
        <p:nvSpPr>
          <p:cNvPr id="32" name="Text 30"/>
          <p:cNvSpPr/>
          <p:nvPr/>
        </p:nvSpPr>
        <p:spPr>
          <a:xfrm>
            <a:off x="4736592" y="2688336"/>
            <a:ext cx="201168" cy="329184"/>
          </a:xfrm>
          <a:prstGeom prst="rect">
            <a:avLst/>
          </a:prstGeom>
          <a:noFill/>
          <a:ln/>
        </p:spPr>
        <p:txBody>
          <a:bodyPr wrap="square" rtlCol="0" anchor="ctr"/>
          <a:lstStyle/>
          <a:p>
            <a:pPr marL="0" indent="0">
              <a:buNone/>
            </a:pPr>
            <a:r>
              <a:rPr lang="en-US" sz="1000" dirty="0">
                <a:solidFill>
                  <a:srgbClr val="00C9A7"/>
                </a:solidFill>
                <a:latin typeface="Calibri" pitchFamily="34" charset="0"/>
                <a:ea typeface="Calibri" pitchFamily="34" charset="-122"/>
                <a:cs typeface="Calibri" pitchFamily="34" charset="-120"/>
              </a:rPr>
              <a:t>▸ </a:t>
            </a:r>
            <a:endParaRPr lang="en-US" sz="1000" dirty="0"/>
          </a:p>
        </p:txBody>
      </p:sp>
      <p:sp>
        <p:nvSpPr>
          <p:cNvPr id="33" name="Text 31"/>
          <p:cNvSpPr/>
          <p:nvPr/>
        </p:nvSpPr>
        <p:spPr>
          <a:xfrm>
            <a:off x="4937760" y="2688336"/>
            <a:ext cx="173736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React.js dashboard</a:t>
            </a:r>
            <a:endParaRPr lang="en-US" sz="1100" dirty="0"/>
          </a:p>
        </p:txBody>
      </p:sp>
      <p:sp>
        <p:nvSpPr>
          <p:cNvPr id="34" name="Text 32"/>
          <p:cNvSpPr/>
          <p:nvPr/>
        </p:nvSpPr>
        <p:spPr>
          <a:xfrm>
            <a:off x="6675120" y="2688336"/>
            <a:ext cx="1920240" cy="329184"/>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Live Gauteng map + alerts</a:t>
            </a:r>
            <a:endParaRPr lang="en-US" sz="1050" dirty="0"/>
          </a:p>
        </p:txBody>
      </p:sp>
      <p:sp>
        <p:nvSpPr>
          <p:cNvPr id="35" name="Text 33"/>
          <p:cNvSpPr/>
          <p:nvPr/>
        </p:nvSpPr>
        <p:spPr>
          <a:xfrm>
            <a:off x="4736592" y="3145536"/>
            <a:ext cx="201168" cy="329184"/>
          </a:xfrm>
          <a:prstGeom prst="rect">
            <a:avLst/>
          </a:prstGeom>
          <a:noFill/>
          <a:ln/>
        </p:spPr>
        <p:txBody>
          <a:bodyPr wrap="square" rtlCol="0" anchor="ctr"/>
          <a:lstStyle/>
          <a:p>
            <a:pPr marL="0" indent="0">
              <a:buNone/>
            </a:pPr>
            <a:r>
              <a:rPr lang="en-US" sz="1000" dirty="0">
                <a:solidFill>
                  <a:srgbClr val="00C9A7"/>
                </a:solidFill>
                <a:latin typeface="Calibri" pitchFamily="34" charset="0"/>
                <a:ea typeface="Calibri" pitchFamily="34" charset="-122"/>
                <a:cs typeface="Calibri" pitchFamily="34" charset="-120"/>
              </a:rPr>
              <a:t>▸ </a:t>
            </a:r>
            <a:endParaRPr lang="en-US" sz="1000" dirty="0"/>
          </a:p>
        </p:txBody>
      </p:sp>
      <p:sp>
        <p:nvSpPr>
          <p:cNvPr id="36" name="Text 34"/>
          <p:cNvSpPr/>
          <p:nvPr/>
        </p:nvSpPr>
        <p:spPr>
          <a:xfrm>
            <a:off x="4937760" y="3145536"/>
            <a:ext cx="173736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CallMeBot / Twilio</a:t>
            </a:r>
            <a:endParaRPr lang="en-US" sz="1100" dirty="0"/>
          </a:p>
        </p:txBody>
      </p:sp>
      <p:sp>
        <p:nvSpPr>
          <p:cNvPr id="37" name="Text 35"/>
          <p:cNvSpPr/>
          <p:nvPr/>
        </p:nvSpPr>
        <p:spPr>
          <a:xfrm>
            <a:off x="6675120" y="3145536"/>
            <a:ext cx="1920240" cy="329184"/>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WhatsApp notifications</a:t>
            </a:r>
            <a:endParaRPr lang="en-US" sz="1050" dirty="0"/>
          </a:p>
        </p:txBody>
      </p:sp>
      <p:sp>
        <p:nvSpPr>
          <p:cNvPr id="38" name="Text 36"/>
          <p:cNvSpPr/>
          <p:nvPr/>
        </p:nvSpPr>
        <p:spPr>
          <a:xfrm>
            <a:off x="4736592" y="3602736"/>
            <a:ext cx="201168" cy="329184"/>
          </a:xfrm>
          <a:prstGeom prst="rect">
            <a:avLst/>
          </a:prstGeom>
          <a:noFill/>
          <a:ln/>
        </p:spPr>
        <p:txBody>
          <a:bodyPr wrap="square" rtlCol="0" anchor="ctr"/>
          <a:lstStyle/>
          <a:p>
            <a:pPr marL="0" indent="0">
              <a:buNone/>
            </a:pPr>
            <a:r>
              <a:rPr lang="en-US" sz="1000" dirty="0">
                <a:solidFill>
                  <a:srgbClr val="00C9A7"/>
                </a:solidFill>
                <a:latin typeface="Calibri" pitchFamily="34" charset="0"/>
                <a:ea typeface="Calibri" pitchFamily="34" charset="-122"/>
                <a:cs typeface="Calibri" pitchFamily="34" charset="-120"/>
              </a:rPr>
              <a:t>▸ </a:t>
            </a:r>
            <a:endParaRPr lang="en-US" sz="1000" dirty="0"/>
          </a:p>
        </p:txBody>
      </p:sp>
      <p:sp>
        <p:nvSpPr>
          <p:cNvPr id="39" name="Text 37"/>
          <p:cNvSpPr/>
          <p:nvPr/>
        </p:nvSpPr>
        <p:spPr>
          <a:xfrm>
            <a:off x="4937760" y="3602736"/>
            <a:ext cx="173736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Scikit-learn</a:t>
            </a:r>
            <a:endParaRPr lang="en-US" sz="1100" dirty="0"/>
          </a:p>
        </p:txBody>
      </p:sp>
      <p:sp>
        <p:nvSpPr>
          <p:cNvPr id="40" name="Text 38"/>
          <p:cNvSpPr/>
          <p:nvPr/>
        </p:nvSpPr>
        <p:spPr>
          <a:xfrm>
            <a:off x="6675120" y="3602736"/>
            <a:ext cx="1920240" cy="329184"/>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Predictive risk scoring model</a:t>
            </a:r>
            <a:endParaRPr lang="en-US" sz="1050" dirty="0"/>
          </a:p>
        </p:txBody>
      </p:sp>
      <p:sp>
        <p:nvSpPr>
          <p:cNvPr id="41" name="Text 39"/>
          <p:cNvSpPr/>
          <p:nvPr/>
        </p:nvSpPr>
        <p:spPr>
          <a:xfrm>
            <a:off x="4736592" y="4059936"/>
            <a:ext cx="201168" cy="329184"/>
          </a:xfrm>
          <a:prstGeom prst="rect">
            <a:avLst/>
          </a:prstGeom>
          <a:noFill/>
          <a:ln/>
        </p:spPr>
        <p:txBody>
          <a:bodyPr wrap="square" rtlCol="0" anchor="ctr"/>
          <a:lstStyle/>
          <a:p>
            <a:pPr marL="0" indent="0">
              <a:buNone/>
            </a:pPr>
            <a:r>
              <a:rPr lang="en-US" sz="1000" dirty="0">
                <a:solidFill>
                  <a:srgbClr val="00C9A7"/>
                </a:solidFill>
                <a:latin typeface="Calibri" pitchFamily="34" charset="0"/>
                <a:ea typeface="Calibri" pitchFamily="34" charset="-122"/>
                <a:cs typeface="Calibri" pitchFamily="34" charset="-120"/>
              </a:rPr>
              <a:t>▸ </a:t>
            </a:r>
            <a:endParaRPr lang="en-US" sz="1000" dirty="0"/>
          </a:p>
        </p:txBody>
      </p:sp>
      <p:sp>
        <p:nvSpPr>
          <p:cNvPr id="42" name="Text 40"/>
          <p:cNvSpPr/>
          <p:nvPr/>
        </p:nvSpPr>
        <p:spPr>
          <a:xfrm>
            <a:off x="4937760" y="4059936"/>
            <a:ext cx="173736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Serial bridge (Python)</a:t>
            </a:r>
            <a:endParaRPr lang="en-US" sz="1100" dirty="0"/>
          </a:p>
        </p:txBody>
      </p:sp>
      <p:sp>
        <p:nvSpPr>
          <p:cNvPr id="43" name="Text 41"/>
          <p:cNvSpPr/>
          <p:nvPr/>
        </p:nvSpPr>
        <p:spPr>
          <a:xfrm>
            <a:off x="6675120" y="4059936"/>
            <a:ext cx="1920240" cy="329184"/>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Arduino → server relay</a:t>
            </a:r>
            <a:endParaRPr lang="en-US" sz="1050" dirty="0"/>
          </a:p>
        </p:txBody>
      </p:sp>
      <p:sp>
        <p:nvSpPr>
          <p:cNvPr id="44" name="Shape 42"/>
          <p:cNvSpPr/>
          <p:nvPr/>
        </p:nvSpPr>
        <p:spPr>
          <a:xfrm>
            <a:off x="0" y="4754880"/>
            <a:ext cx="9144000" cy="388620"/>
          </a:xfrm>
          <a:prstGeom prst="rect">
            <a:avLst/>
          </a:prstGeom>
          <a:solidFill>
            <a:srgbClr val="00A68A"/>
          </a:solidFill>
          <a:ln w="12700">
            <a:solidFill>
              <a:srgbClr val="00A68A"/>
            </a:solidFill>
            <a:prstDash val="solid"/>
          </a:ln>
        </p:spPr>
        <p:txBody>
          <a:bodyPr/>
          <a:lstStyle/>
          <a:p>
            <a:endParaRPr lang="en-ZA"/>
          </a:p>
        </p:txBody>
      </p:sp>
      <p:sp>
        <p:nvSpPr>
          <p:cNvPr id="45" name="Text 43"/>
          <p:cNvSpPr/>
          <p:nvPr/>
        </p:nvSpPr>
        <p:spPr>
          <a:xfrm>
            <a:off x="457200" y="4773168"/>
            <a:ext cx="8229600" cy="3200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SentinelAI  ·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92608"/>
          </a:xfrm>
          <a:prstGeom prst="rect">
            <a:avLst/>
          </a:prstGeom>
          <a:noFill/>
          <a:ln/>
        </p:spPr>
        <p:txBody>
          <a:bodyPr wrap="square" rtlCol="0" anchor="ctr"/>
          <a:lstStyle/>
          <a:p>
            <a:pPr marL="0" indent="0">
              <a:buNone/>
            </a:pPr>
            <a:r>
              <a:rPr lang="en-US" sz="1100" b="1" kern="0" spc="500" dirty="0">
                <a:solidFill>
                  <a:srgbClr val="00C9A7"/>
                </a:solidFill>
                <a:latin typeface="Calibri" pitchFamily="34" charset="0"/>
                <a:ea typeface="Calibri" pitchFamily="34" charset="-122"/>
                <a:cs typeface="Calibri" pitchFamily="34" charset="-120"/>
              </a:rPr>
              <a:t>THE IMPACT</a:t>
            </a:r>
            <a:endParaRPr lang="en-US" sz="1100" dirty="0"/>
          </a:p>
        </p:txBody>
      </p:sp>
      <p:sp>
        <p:nvSpPr>
          <p:cNvPr id="3" name="Text 1"/>
          <p:cNvSpPr/>
          <p:nvPr/>
        </p:nvSpPr>
        <p:spPr>
          <a:xfrm>
            <a:off x="457200" y="54864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SentinelAI changes for Gauteng</a:t>
            </a:r>
            <a:endParaRPr lang="en-US" sz="2800" dirty="0"/>
          </a:p>
        </p:txBody>
      </p:sp>
      <p:sp>
        <p:nvSpPr>
          <p:cNvPr id="4" name="Shape 2"/>
          <p:cNvSpPr/>
          <p:nvPr/>
        </p:nvSpPr>
        <p:spPr>
          <a:xfrm>
            <a:off x="347472" y="1261872"/>
            <a:ext cx="2606040" cy="1508760"/>
          </a:xfrm>
          <a:prstGeom prst="roundRect">
            <a:avLst>
              <a:gd name="adj" fmla="val 7273"/>
            </a:avLst>
          </a:prstGeom>
          <a:solidFill>
            <a:srgbClr val="132040"/>
          </a:solidFill>
          <a:ln w="7620">
            <a:solidFill>
              <a:srgbClr val="00C9A7">
                <a:alpha val="5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5" name="Text 3"/>
          <p:cNvSpPr/>
          <p:nvPr/>
        </p:nvSpPr>
        <p:spPr>
          <a:xfrm>
            <a:off x="347472" y="1389888"/>
            <a:ext cx="2606040" cy="594360"/>
          </a:xfrm>
          <a:prstGeom prst="rect">
            <a:avLst/>
          </a:prstGeom>
          <a:noFill/>
          <a:ln/>
        </p:spPr>
        <p:txBody>
          <a:bodyPr wrap="square" rtlCol="0" anchor="ctr"/>
          <a:lstStyle/>
          <a:p>
            <a:pPr marL="0" indent="0" algn="ctr">
              <a:buNone/>
            </a:pPr>
            <a:r>
              <a:rPr lang="en-US" sz="3200" b="1" dirty="0">
                <a:solidFill>
                  <a:srgbClr val="00C9A7"/>
                </a:solidFill>
                <a:latin typeface="Cambria" pitchFamily="34" charset="0"/>
                <a:ea typeface="Cambria" pitchFamily="34" charset="-122"/>
                <a:cs typeface="Cambria" pitchFamily="34" charset="-120"/>
              </a:rPr>
              <a:t>&lt; 60s</a:t>
            </a:r>
            <a:endParaRPr lang="en-US" sz="3200" dirty="0"/>
          </a:p>
        </p:txBody>
      </p:sp>
      <p:sp>
        <p:nvSpPr>
          <p:cNvPr id="6" name="Text 4"/>
          <p:cNvSpPr/>
          <p:nvPr/>
        </p:nvSpPr>
        <p:spPr>
          <a:xfrm>
            <a:off x="347472" y="1993392"/>
            <a:ext cx="2606040" cy="621792"/>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Detection to</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alert time</a:t>
            </a:r>
            <a:endParaRPr lang="en-US" sz="1100" dirty="0"/>
          </a:p>
        </p:txBody>
      </p:sp>
      <p:sp>
        <p:nvSpPr>
          <p:cNvPr id="7" name="Shape 5"/>
          <p:cNvSpPr/>
          <p:nvPr/>
        </p:nvSpPr>
        <p:spPr>
          <a:xfrm>
            <a:off x="3182112" y="1261872"/>
            <a:ext cx="2606040" cy="1508760"/>
          </a:xfrm>
          <a:prstGeom prst="roundRect">
            <a:avLst>
              <a:gd name="adj" fmla="val 7273"/>
            </a:avLst>
          </a:prstGeom>
          <a:solidFill>
            <a:srgbClr val="132040"/>
          </a:solidFill>
          <a:ln w="7620">
            <a:solidFill>
              <a:srgbClr val="00C9A7">
                <a:alpha val="5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8" name="Text 6"/>
          <p:cNvSpPr/>
          <p:nvPr/>
        </p:nvSpPr>
        <p:spPr>
          <a:xfrm>
            <a:off x="3182112" y="1389888"/>
            <a:ext cx="2606040" cy="594360"/>
          </a:xfrm>
          <a:prstGeom prst="rect">
            <a:avLst/>
          </a:prstGeom>
          <a:noFill/>
          <a:ln/>
        </p:spPr>
        <p:txBody>
          <a:bodyPr wrap="square" rtlCol="0" anchor="ctr"/>
          <a:lstStyle/>
          <a:p>
            <a:pPr marL="0" indent="0" algn="ctr">
              <a:buNone/>
            </a:pPr>
            <a:r>
              <a:rPr lang="en-US" sz="3200" b="1" dirty="0">
                <a:solidFill>
                  <a:srgbClr val="00C9A7"/>
                </a:solidFill>
                <a:latin typeface="Cambria" pitchFamily="34" charset="0"/>
                <a:ea typeface="Cambria" pitchFamily="34" charset="-122"/>
                <a:cs typeface="Cambria" pitchFamily="34" charset="-120"/>
              </a:rPr>
              <a:t>−65%</a:t>
            </a:r>
            <a:endParaRPr lang="en-US" sz="3200" dirty="0"/>
          </a:p>
        </p:txBody>
      </p:sp>
      <p:sp>
        <p:nvSpPr>
          <p:cNvPr id="9" name="Text 7"/>
          <p:cNvSpPr/>
          <p:nvPr/>
        </p:nvSpPr>
        <p:spPr>
          <a:xfrm>
            <a:off x="3182112" y="1993392"/>
            <a:ext cx="2606040" cy="621792"/>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Projected reduction</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in theft incidents</a:t>
            </a:r>
            <a:endParaRPr lang="en-US" sz="1100" dirty="0"/>
          </a:p>
        </p:txBody>
      </p:sp>
      <p:sp>
        <p:nvSpPr>
          <p:cNvPr id="10" name="Shape 8"/>
          <p:cNvSpPr/>
          <p:nvPr/>
        </p:nvSpPr>
        <p:spPr>
          <a:xfrm>
            <a:off x="6016752" y="1261872"/>
            <a:ext cx="2606040" cy="1508760"/>
          </a:xfrm>
          <a:prstGeom prst="roundRect">
            <a:avLst>
              <a:gd name="adj" fmla="val 7273"/>
            </a:avLst>
          </a:prstGeom>
          <a:solidFill>
            <a:srgbClr val="132040"/>
          </a:solidFill>
          <a:ln w="7620">
            <a:solidFill>
              <a:srgbClr val="00C9A7">
                <a:alpha val="5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11" name="Text 9"/>
          <p:cNvSpPr/>
          <p:nvPr/>
        </p:nvSpPr>
        <p:spPr>
          <a:xfrm>
            <a:off x="6016752" y="1389888"/>
            <a:ext cx="2606040" cy="594360"/>
          </a:xfrm>
          <a:prstGeom prst="rect">
            <a:avLst/>
          </a:prstGeom>
          <a:noFill/>
          <a:ln/>
        </p:spPr>
        <p:txBody>
          <a:bodyPr wrap="square" rtlCol="0" anchor="ctr"/>
          <a:lstStyle/>
          <a:p>
            <a:pPr marL="0" indent="0" algn="ctr">
              <a:buNone/>
            </a:pPr>
            <a:r>
              <a:rPr lang="en-US" sz="3200" b="1" dirty="0">
                <a:solidFill>
                  <a:srgbClr val="00C9A7"/>
                </a:solidFill>
                <a:latin typeface="Cambria" pitchFamily="34" charset="0"/>
                <a:ea typeface="Cambria" pitchFamily="34" charset="-122"/>
                <a:cs typeface="Cambria" pitchFamily="34" charset="-120"/>
              </a:rPr>
              <a:t>R1.7B</a:t>
            </a:r>
            <a:endParaRPr lang="en-US" sz="3200" dirty="0"/>
          </a:p>
        </p:txBody>
      </p:sp>
      <p:sp>
        <p:nvSpPr>
          <p:cNvPr id="12" name="Text 10"/>
          <p:cNvSpPr/>
          <p:nvPr/>
        </p:nvSpPr>
        <p:spPr>
          <a:xfrm>
            <a:off x="6016752" y="1993392"/>
            <a:ext cx="2606040" cy="621792"/>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Estimated annual</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savings to Gauteng</a:t>
            </a:r>
            <a:endParaRPr lang="en-US" sz="1100" dirty="0"/>
          </a:p>
        </p:txBody>
      </p:sp>
      <p:sp>
        <p:nvSpPr>
          <p:cNvPr id="13" name="Shape 11"/>
          <p:cNvSpPr/>
          <p:nvPr/>
        </p:nvSpPr>
        <p:spPr>
          <a:xfrm>
            <a:off x="347472" y="2926080"/>
            <a:ext cx="2606040" cy="1508760"/>
          </a:xfrm>
          <a:prstGeom prst="roundRect">
            <a:avLst>
              <a:gd name="adj" fmla="val 7273"/>
            </a:avLst>
          </a:prstGeom>
          <a:solidFill>
            <a:srgbClr val="132040"/>
          </a:solidFill>
          <a:ln w="7620">
            <a:solidFill>
              <a:srgbClr val="F4A261">
                <a:alpha val="50000"/>
              </a:srgbClr>
            </a:solidFill>
            <a:prstDash val="solid"/>
          </a:ln>
          <a:effectLst>
            <a:outerShdw blurRad="101600" dist="38100" dir="2700000" algn="bl" rotWithShape="0">
              <a:srgbClr val="000000">
                <a:alpha val="18000"/>
              </a:srgbClr>
            </a:outerShdw>
          </a:effectLst>
        </p:spPr>
        <p:txBody>
          <a:bodyPr/>
          <a:lstStyle/>
          <a:p>
            <a:endParaRPr lang="en-ZA" dirty="0"/>
          </a:p>
        </p:txBody>
      </p:sp>
      <p:sp>
        <p:nvSpPr>
          <p:cNvPr id="14" name="Text 12"/>
          <p:cNvSpPr/>
          <p:nvPr/>
        </p:nvSpPr>
        <p:spPr>
          <a:xfrm>
            <a:off x="347472" y="3054096"/>
            <a:ext cx="2606040" cy="594360"/>
          </a:xfrm>
          <a:prstGeom prst="rect">
            <a:avLst/>
          </a:prstGeom>
          <a:noFill/>
          <a:ln/>
        </p:spPr>
        <p:txBody>
          <a:bodyPr wrap="square" rtlCol="0" anchor="ctr"/>
          <a:lstStyle/>
          <a:p>
            <a:pPr marL="0" indent="0" algn="ctr">
              <a:buNone/>
            </a:pPr>
            <a:r>
              <a:rPr lang="en-US" sz="3200" b="1" dirty="0">
                <a:solidFill>
                  <a:srgbClr val="F4A261"/>
                </a:solidFill>
                <a:latin typeface="Cambria" pitchFamily="34" charset="0"/>
                <a:ea typeface="Cambria" pitchFamily="34" charset="-122"/>
                <a:cs typeface="Cambria" pitchFamily="34" charset="-120"/>
              </a:rPr>
              <a:t>4,000±</a:t>
            </a:r>
            <a:endParaRPr lang="en-US" sz="3200" dirty="0"/>
          </a:p>
        </p:txBody>
      </p:sp>
      <p:sp>
        <p:nvSpPr>
          <p:cNvPr id="15" name="Text 13"/>
          <p:cNvSpPr/>
          <p:nvPr/>
        </p:nvSpPr>
        <p:spPr>
          <a:xfrm>
            <a:off x="347472" y="3657600"/>
            <a:ext cx="2606040" cy="621792"/>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Local jobs created</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per ±1,000 nodes</a:t>
            </a:r>
            <a:endParaRPr lang="en-US" sz="1100" dirty="0"/>
          </a:p>
        </p:txBody>
      </p:sp>
      <p:sp>
        <p:nvSpPr>
          <p:cNvPr id="16" name="Shape 14"/>
          <p:cNvSpPr/>
          <p:nvPr/>
        </p:nvSpPr>
        <p:spPr>
          <a:xfrm>
            <a:off x="3182112" y="2926080"/>
            <a:ext cx="2606040" cy="1508760"/>
          </a:xfrm>
          <a:prstGeom prst="roundRect">
            <a:avLst>
              <a:gd name="adj" fmla="val 7273"/>
            </a:avLst>
          </a:prstGeom>
          <a:solidFill>
            <a:srgbClr val="132040"/>
          </a:solidFill>
          <a:ln w="7620">
            <a:solidFill>
              <a:srgbClr val="F4A261">
                <a:alpha val="5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17" name="Text 15"/>
          <p:cNvSpPr/>
          <p:nvPr/>
        </p:nvSpPr>
        <p:spPr>
          <a:xfrm>
            <a:off x="3182112" y="3054096"/>
            <a:ext cx="2606040" cy="594360"/>
          </a:xfrm>
          <a:prstGeom prst="rect">
            <a:avLst/>
          </a:prstGeom>
          <a:noFill/>
          <a:ln/>
        </p:spPr>
        <p:txBody>
          <a:bodyPr wrap="square" rtlCol="0" anchor="ctr"/>
          <a:lstStyle/>
          <a:p>
            <a:pPr marL="0" indent="0" algn="ctr">
              <a:buNone/>
            </a:pPr>
            <a:r>
              <a:rPr lang="en-US" sz="3200" b="1" dirty="0">
                <a:solidFill>
                  <a:srgbClr val="F4A261"/>
                </a:solidFill>
                <a:latin typeface="Cambria" pitchFamily="34" charset="0"/>
                <a:ea typeface="Cambria" pitchFamily="34" charset="-122"/>
                <a:cs typeface="Cambria" pitchFamily="34" charset="-120"/>
              </a:rPr>
              <a:t>98%</a:t>
            </a:r>
            <a:endParaRPr lang="en-US" sz="3200" dirty="0"/>
          </a:p>
        </p:txBody>
      </p:sp>
      <p:sp>
        <p:nvSpPr>
          <p:cNvPr id="18" name="Text 16"/>
          <p:cNvSpPr/>
          <p:nvPr/>
        </p:nvSpPr>
        <p:spPr>
          <a:xfrm>
            <a:off x="3182112" y="3657600"/>
            <a:ext cx="2606040" cy="621792"/>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Uptime target</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for sensor nodes</a:t>
            </a:r>
            <a:endParaRPr lang="en-US" sz="1100" dirty="0"/>
          </a:p>
        </p:txBody>
      </p:sp>
      <p:sp>
        <p:nvSpPr>
          <p:cNvPr id="19" name="Shape 17"/>
          <p:cNvSpPr/>
          <p:nvPr/>
        </p:nvSpPr>
        <p:spPr>
          <a:xfrm>
            <a:off x="6016752" y="2926080"/>
            <a:ext cx="2606040" cy="1508760"/>
          </a:xfrm>
          <a:prstGeom prst="roundRect">
            <a:avLst>
              <a:gd name="adj" fmla="val 7273"/>
            </a:avLst>
          </a:prstGeom>
          <a:solidFill>
            <a:srgbClr val="132040"/>
          </a:solidFill>
          <a:ln w="7620">
            <a:solidFill>
              <a:srgbClr val="F4A261">
                <a:alpha val="5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20" name="Text 18"/>
          <p:cNvSpPr/>
          <p:nvPr/>
        </p:nvSpPr>
        <p:spPr>
          <a:xfrm>
            <a:off x="6016752" y="3054096"/>
            <a:ext cx="2606040" cy="594360"/>
          </a:xfrm>
          <a:prstGeom prst="rect">
            <a:avLst/>
          </a:prstGeom>
          <a:noFill/>
          <a:ln/>
        </p:spPr>
        <p:txBody>
          <a:bodyPr wrap="square" rtlCol="0" anchor="ctr"/>
          <a:lstStyle/>
          <a:p>
            <a:pPr marL="0" indent="0" algn="ctr">
              <a:buNone/>
            </a:pPr>
            <a:r>
              <a:rPr lang="en-US" sz="3200" b="1" dirty="0">
                <a:solidFill>
                  <a:srgbClr val="F4A261"/>
                </a:solidFill>
                <a:latin typeface="Cambria" pitchFamily="34" charset="0"/>
                <a:ea typeface="Cambria" pitchFamily="34" charset="-122"/>
              </a:rPr>
              <a:t>11</a:t>
            </a:r>
            <a:endParaRPr lang="en-US" sz="3200" dirty="0"/>
          </a:p>
        </p:txBody>
      </p:sp>
      <p:sp>
        <p:nvSpPr>
          <p:cNvPr id="21" name="Text 19"/>
          <p:cNvSpPr/>
          <p:nvPr/>
        </p:nvSpPr>
        <p:spPr>
          <a:xfrm>
            <a:off x="6016752" y="3657600"/>
            <a:ext cx="2606040" cy="621792"/>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Gauteng municipalities</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covered at rollout</a:t>
            </a:r>
            <a:endParaRPr lang="en-US" sz="1100" dirty="0"/>
          </a:p>
        </p:txBody>
      </p:sp>
      <p:sp>
        <p:nvSpPr>
          <p:cNvPr id="22" name="Shape 20"/>
          <p:cNvSpPr/>
          <p:nvPr/>
        </p:nvSpPr>
        <p:spPr>
          <a:xfrm>
            <a:off x="0" y="4754880"/>
            <a:ext cx="9144000" cy="388620"/>
          </a:xfrm>
          <a:prstGeom prst="rect">
            <a:avLst/>
          </a:prstGeom>
          <a:solidFill>
            <a:srgbClr val="00A68A"/>
          </a:solidFill>
          <a:ln w="12700">
            <a:solidFill>
              <a:srgbClr val="00A68A"/>
            </a:solidFill>
            <a:prstDash val="solid"/>
          </a:ln>
        </p:spPr>
        <p:txBody>
          <a:bodyPr/>
          <a:lstStyle/>
          <a:p>
            <a:endParaRPr lang="en-ZA"/>
          </a:p>
        </p:txBody>
      </p:sp>
      <p:sp>
        <p:nvSpPr>
          <p:cNvPr id="23" name="Text 21"/>
          <p:cNvSpPr/>
          <p:nvPr/>
        </p:nvSpPr>
        <p:spPr>
          <a:xfrm>
            <a:off x="457200" y="4773168"/>
            <a:ext cx="8229600" cy="3200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SentinelAI  ·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92608"/>
          </a:xfrm>
          <a:prstGeom prst="rect">
            <a:avLst/>
          </a:prstGeom>
          <a:noFill/>
          <a:ln/>
        </p:spPr>
        <p:txBody>
          <a:bodyPr wrap="square" rtlCol="0" anchor="ctr"/>
          <a:lstStyle/>
          <a:p>
            <a:pPr marL="0" indent="0">
              <a:buNone/>
            </a:pPr>
            <a:r>
              <a:rPr lang="en-US" sz="1100" b="1" kern="0" spc="500" dirty="0">
                <a:solidFill>
                  <a:srgbClr val="00C9A7"/>
                </a:solidFill>
                <a:latin typeface="Calibri" pitchFamily="34" charset="0"/>
                <a:ea typeface="Calibri" pitchFamily="34" charset="-122"/>
                <a:cs typeface="Calibri" pitchFamily="34" charset="-120"/>
              </a:rPr>
              <a:t>ROLLOUT PLAN</a:t>
            </a:r>
            <a:endParaRPr lang="en-US" sz="1100" dirty="0"/>
          </a:p>
        </p:txBody>
      </p:sp>
      <p:sp>
        <p:nvSpPr>
          <p:cNvPr id="3" name="Text 1"/>
          <p:cNvSpPr/>
          <p:nvPr/>
        </p:nvSpPr>
        <p:spPr>
          <a:xfrm>
            <a:off x="457200" y="54864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Three phases (from prototype to province)</a:t>
            </a:r>
            <a:endParaRPr lang="en-US" sz="2800" dirty="0"/>
          </a:p>
        </p:txBody>
      </p:sp>
      <p:sp>
        <p:nvSpPr>
          <p:cNvPr id="4" name="Shape 2"/>
          <p:cNvSpPr/>
          <p:nvPr/>
        </p:nvSpPr>
        <p:spPr>
          <a:xfrm>
            <a:off x="347472" y="1261872"/>
            <a:ext cx="2633472" cy="3310128"/>
          </a:xfrm>
          <a:prstGeom prst="roundRect">
            <a:avLst>
              <a:gd name="adj" fmla="val 4514"/>
            </a:avLst>
          </a:prstGeom>
          <a:solidFill>
            <a:srgbClr val="132040"/>
          </a:solidFill>
          <a:ln w="10160">
            <a:solidFill>
              <a:srgbClr val="00C9A7">
                <a:alpha val="7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5" name="Shape 3"/>
          <p:cNvSpPr/>
          <p:nvPr/>
        </p:nvSpPr>
        <p:spPr>
          <a:xfrm>
            <a:off x="475488" y="1389888"/>
            <a:ext cx="1188720" cy="256032"/>
          </a:xfrm>
          <a:prstGeom prst="roundRect">
            <a:avLst>
              <a:gd name="adj" fmla="val 50000"/>
            </a:avLst>
          </a:prstGeom>
          <a:solidFill>
            <a:srgbClr val="00C9A7"/>
          </a:solidFill>
          <a:ln w="12700">
            <a:solidFill>
              <a:srgbClr val="00C9A7"/>
            </a:solidFill>
            <a:prstDash val="solid"/>
          </a:ln>
        </p:spPr>
        <p:txBody>
          <a:bodyPr/>
          <a:lstStyle/>
          <a:p>
            <a:endParaRPr lang="en-ZA"/>
          </a:p>
        </p:txBody>
      </p:sp>
      <p:sp>
        <p:nvSpPr>
          <p:cNvPr id="6" name="Text 4"/>
          <p:cNvSpPr/>
          <p:nvPr/>
        </p:nvSpPr>
        <p:spPr>
          <a:xfrm>
            <a:off x="475488" y="1389888"/>
            <a:ext cx="1188720" cy="256032"/>
          </a:xfrm>
          <a:prstGeom prst="rect">
            <a:avLst/>
          </a:prstGeom>
          <a:noFill/>
          <a:ln/>
        </p:spPr>
        <p:txBody>
          <a:bodyPr wrap="square" rtlCol="0" anchor="ctr"/>
          <a:lstStyle/>
          <a:p>
            <a:pPr marL="0" indent="0" algn="ctr">
              <a:buNone/>
            </a:pPr>
            <a:r>
              <a:rPr lang="en-US" sz="800" b="1" dirty="0">
                <a:solidFill>
                  <a:srgbClr val="0B1F3A"/>
                </a:solidFill>
                <a:latin typeface="Calibri" pitchFamily="34" charset="0"/>
                <a:ea typeface="Calibri" pitchFamily="34" charset="-122"/>
                <a:cs typeface="Calibri" pitchFamily="34" charset="-120"/>
              </a:rPr>
              <a:t>Phase 1</a:t>
            </a:r>
            <a:endParaRPr lang="en-US" sz="800" dirty="0"/>
          </a:p>
        </p:txBody>
      </p:sp>
      <p:sp>
        <p:nvSpPr>
          <p:cNvPr id="7" name="Text 5"/>
          <p:cNvSpPr/>
          <p:nvPr/>
        </p:nvSpPr>
        <p:spPr>
          <a:xfrm>
            <a:off x="475488" y="1682496"/>
            <a:ext cx="2377440" cy="256032"/>
          </a:xfrm>
          <a:prstGeom prst="rect">
            <a:avLst/>
          </a:prstGeom>
          <a:noFill/>
          <a:ln/>
        </p:spPr>
        <p:txBody>
          <a:bodyPr wrap="square" rtlCol="0" anchor="ctr"/>
          <a:lstStyle/>
          <a:p>
            <a:pPr marL="0" indent="0">
              <a:buNone/>
            </a:pPr>
            <a:r>
              <a:rPr lang="en-US" sz="1000" i="1" dirty="0">
                <a:solidFill>
                  <a:srgbClr val="00C9A7"/>
                </a:solidFill>
                <a:latin typeface="Calibri" pitchFamily="34" charset="0"/>
                <a:ea typeface="Calibri" pitchFamily="34" charset="-122"/>
                <a:cs typeface="Calibri" pitchFamily="34" charset="-120"/>
              </a:rPr>
              <a:t>Month 1–5</a:t>
            </a:r>
            <a:endParaRPr lang="en-US" sz="1000" dirty="0"/>
          </a:p>
        </p:txBody>
      </p:sp>
      <p:sp>
        <p:nvSpPr>
          <p:cNvPr id="8" name="Text 6"/>
          <p:cNvSpPr/>
          <p:nvPr/>
        </p:nvSpPr>
        <p:spPr>
          <a:xfrm>
            <a:off x="475488" y="1947672"/>
            <a:ext cx="237744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Pilot</a:t>
            </a:r>
            <a:endParaRPr lang="en-US" sz="1600" dirty="0"/>
          </a:p>
        </p:txBody>
      </p:sp>
      <p:sp>
        <p:nvSpPr>
          <p:cNvPr id="9" name="Text 7"/>
          <p:cNvSpPr/>
          <p:nvPr/>
        </p:nvSpPr>
        <p:spPr>
          <a:xfrm>
            <a:off x="475488" y="2432304"/>
            <a:ext cx="2377440" cy="2011680"/>
          </a:xfrm>
          <a:prstGeom prst="rect">
            <a:avLst/>
          </a:prstGeom>
          <a:noFill/>
          <a:ln/>
        </p:spPr>
        <p:txBody>
          <a:bodyPr wrap="square" rtlCol="0" anchor="ctr"/>
          <a:lstStyle/>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3–5 nodes at </a:t>
            </a:r>
            <a:r>
              <a:rPr lang="en-US" sz="1050" dirty="0" err="1">
                <a:solidFill>
                  <a:srgbClr val="94A3B8"/>
                </a:solidFill>
                <a:latin typeface="Calibri" pitchFamily="34" charset="0"/>
                <a:ea typeface="Calibri" pitchFamily="34" charset="-122"/>
                <a:cs typeface="Calibri" pitchFamily="34" charset="-120"/>
              </a:rPr>
              <a:t>Sonland</a:t>
            </a:r>
            <a:r>
              <a:rPr lang="en-US" sz="1050" dirty="0">
                <a:solidFill>
                  <a:srgbClr val="94A3B8"/>
                </a:solidFill>
                <a:latin typeface="Calibri" pitchFamily="34" charset="0"/>
                <a:ea typeface="Calibri" pitchFamily="34" charset="-122"/>
                <a:cs typeface="Calibri" pitchFamily="34" charset="-120"/>
              </a:rPr>
              <a:t> substation</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USB serial + venue WiFi</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Dashboard + WhatsApp live</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Validate AI risk scores</a:t>
            </a:r>
            <a:endParaRPr lang="en-US" sz="1050" dirty="0"/>
          </a:p>
        </p:txBody>
      </p:sp>
      <p:sp>
        <p:nvSpPr>
          <p:cNvPr id="10" name="Shape 8"/>
          <p:cNvSpPr/>
          <p:nvPr/>
        </p:nvSpPr>
        <p:spPr>
          <a:xfrm>
            <a:off x="3182112" y="1261872"/>
            <a:ext cx="2633472" cy="3310128"/>
          </a:xfrm>
          <a:prstGeom prst="roundRect">
            <a:avLst>
              <a:gd name="adj" fmla="val 4514"/>
            </a:avLst>
          </a:prstGeom>
          <a:solidFill>
            <a:srgbClr val="132040"/>
          </a:solidFill>
          <a:ln w="10160">
            <a:solidFill>
              <a:srgbClr val="F4A261">
                <a:alpha val="7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11" name="Shape 9"/>
          <p:cNvSpPr/>
          <p:nvPr/>
        </p:nvSpPr>
        <p:spPr>
          <a:xfrm>
            <a:off x="3310128" y="1389888"/>
            <a:ext cx="1188720" cy="256032"/>
          </a:xfrm>
          <a:prstGeom prst="roundRect">
            <a:avLst>
              <a:gd name="adj" fmla="val 50000"/>
            </a:avLst>
          </a:prstGeom>
          <a:solidFill>
            <a:srgbClr val="F4A261"/>
          </a:solidFill>
          <a:ln w="12700">
            <a:solidFill>
              <a:srgbClr val="F4A261"/>
            </a:solidFill>
            <a:prstDash val="solid"/>
          </a:ln>
        </p:spPr>
        <p:txBody>
          <a:bodyPr/>
          <a:lstStyle/>
          <a:p>
            <a:endParaRPr lang="en-ZA"/>
          </a:p>
        </p:txBody>
      </p:sp>
      <p:sp>
        <p:nvSpPr>
          <p:cNvPr id="12" name="Text 10"/>
          <p:cNvSpPr/>
          <p:nvPr/>
        </p:nvSpPr>
        <p:spPr>
          <a:xfrm>
            <a:off x="3310128" y="1389888"/>
            <a:ext cx="1188720" cy="256032"/>
          </a:xfrm>
          <a:prstGeom prst="rect">
            <a:avLst/>
          </a:prstGeom>
          <a:noFill/>
          <a:ln/>
        </p:spPr>
        <p:txBody>
          <a:bodyPr wrap="square" rtlCol="0" anchor="ctr"/>
          <a:lstStyle/>
          <a:p>
            <a:pPr marL="0" indent="0" algn="ctr">
              <a:buNone/>
            </a:pPr>
            <a:r>
              <a:rPr lang="en-US" sz="800" b="1" dirty="0">
                <a:solidFill>
                  <a:srgbClr val="0B1F3A"/>
                </a:solidFill>
                <a:latin typeface="Calibri" pitchFamily="34" charset="0"/>
                <a:ea typeface="Calibri" pitchFamily="34" charset="-122"/>
                <a:cs typeface="Calibri" pitchFamily="34" charset="-120"/>
              </a:rPr>
              <a:t>Phase 2</a:t>
            </a:r>
            <a:endParaRPr lang="en-US" sz="800" dirty="0"/>
          </a:p>
        </p:txBody>
      </p:sp>
      <p:sp>
        <p:nvSpPr>
          <p:cNvPr id="13" name="Text 11"/>
          <p:cNvSpPr/>
          <p:nvPr/>
        </p:nvSpPr>
        <p:spPr>
          <a:xfrm>
            <a:off x="3310128" y="1682496"/>
            <a:ext cx="2377440" cy="256032"/>
          </a:xfrm>
          <a:prstGeom prst="rect">
            <a:avLst/>
          </a:prstGeom>
          <a:noFill/>
          <a:ln/>
        </p:spPr>
        <p:txBody>
          <a:bodyPr wrap="square" rtlCol="0" anchor="ctr"/>
          <a:lstStyle/>
          <a:p>
            <a:pPr marL="0" indent="0">
              <a:buNone/>
            </a:pPr>
            <a:r>
              <a:rPr lang="en-US" sz="1000" i="1" dirty="0">
                <a:solidFill>
                  <a:srgbClr val="F4A261"/>
                </a:solidFill>
                <a:latin typeface="Calibri" pitchFamily="34" charset="0"/>
                <a:ea typeface="Calibri" pitchFamily="34" charset="-122"/>
                <a:cs typeface="Calibri" pitchFamily="34" charset="-120"/>
              </a:rPr>
              <a:t>Month 6–10</a:t>
            </a:r>
            <a:endParaRPr lang="en-US" sz="1000" dirty="0"/>
          </a:p>
        </p:txBody>
      </p:sp>
      <p:sp>
        <p:nvSpPr>
          <p:cNvPr id="14" name="Text 12"/>
          <p:cNvSpPr/>
          <p:nvPr/>
        </p:nvSpPr>
        <p:spPr>
          <a:xfrm>
            <a:off x="3310128" y="1947672"/>
            <a:ext cx="237744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District Rollout</a:t>
            </a:r>
            <a:endParaRPr lang="en-US" sz="1600" dirty="0"/>
          </a:p>
        </p:txBody>
      </p:sp>
      <p:sp>
        <p:nvSpPr>
          <p:cNvPr id="15" name="Text 13"/>
          <p:cNvSpPr/>
          <p:nvPr/>
        </p:nvSpPr>
        <p:spPr>
          <a:xfrm>
            <a:off x="3310128" y="2432304"/>
            <a:ext cx="2377440" cy="2011680"/>
          </a:xfrm>
          <a:prstGeom prst="rect">
            <a:avLst/>
          </a:prstGeom>
          <a:noFill/>
          <a:ln/>
        </p:spPr>
        <p:txBody>
          <a:bodyPr wrap="square" rtlCol="0" anchor="ctr"/>
          <a:lstStyle/>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50 nodes across JHB, Vereeniging CBD</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GSM / LTE connectivity</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Integrate SAPS &amp; Eskom feeds</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Real-time predictive analytics</a:t>
            </a:r>
            <a:endParaRPr lang="en-US" sz="1050" dirty="0"/>
          </a:p>
        </p:txBody>
      </p:sp>
      <p:sp>
        <p:nvSpPr>
          <p:cNvPr id="16" name="Shape 14"/>
          <p:cNvSpPr/>
          <p:nvPr/>
        </p:nvSpPr>
        <p:spPr>
          <a:xfrm>
            <a:off x="6016752" y="1261872"/>
            <a:ext cx="2633472" cy="3310128"/>
          </a:xfrm>
          <a:prstGeom prst="roundRect">
            <a:avLst>
              <a:gd name="adj" fmla="val 4514"/>
            </a:avLst>
          </a:prstGeom>
          <a:solidFill>
            <a:srgbClr val="132040"/>
          </a:solidFill>
          <a:ln w="10160">
            <a:solidFill>
              <a:srgbClr val="A78BFA">
                <a:alpha val="70000"/>
              </a:srgbClr>
            </a:solidFill>
            <a:prstDash val="solid"/>
          </a:ln>
          <a:effectLst>
            <a:outerShdw blurRad="101600" dist="38100" dir="2700000" algn="bl" rotWithShape="0">
              <a:srgbClr val="000000">
                <a:alpha val="18000"/>
              </a:srgbClr>
            </a:outerShdw>
          </a:effectLst>
        </p:spPr>
        <p:txBody>
          <a:bodyPr/>
          <a:lstStyle/>
          <a:p>
            <a:endParaRPr lang="en-ZA"/>
          </a:p>
        </p:txBody>
      </p:sp>
      <p:sp>
        <p:nvSpPr>
          <p:cNvPr id="17" name="Shape 15"/>
          <p:cNvSpPr/>
          <p:nvPr/>
        </p:nvSpPr>
        <p:spPr>
          <a:xfrm>
            <a:off x="6144768" y="1389888"/>
            <a:ext cx="1188720" cy="256032"/>
          </a:xfrm>
          <a:prstGeom prst="roundRect">
            <a:avLst>
              <a:gd name="adj" fmla="val 50000"/>
            </a:avLst>
          </a:prstGeom>
          <a:solidFill>
            <a:srgbClr val="A78BFA"/>
          </a:solidFill>
          <a:ln w="12700">
            <a:solidFill>
              <a:srgbClr val="A78BFA"/>
            </a:solidFill>
            <a:prstDash val="solid"/>
          </a:ln>
        </p:spPr>
        <p:txBody>
          <a:bodyPr/>
          <a:lstStyle/>
          <a:p>
            <a:endParaRPr lang="en-ZA"/>
          </a:p>
        </p:txBody>
      </p:sp>
      <p:sp>
        <p:nvSpPr>
          <p:cNvPr id="18" name="Text 16"/>
          <p:cNvSpPr/>
          <p:nvPr/>
        </p:nvSpPr>
        <p:spPr>
          <a:xfrm>
            <a:off x="6144768" y="1389888"/>
            <a:ext cx="1188720" cy="256032"/>
          </a:xfrm>
          <a:prstGeom prst="rect">
            <a:avLst/>
          </a:prstGeom>
          <a:noFill/>
          <a:ln/>
        </p:spPr>
        <p:txBody>
          <a:bodyPr wrap="square" rtlCol="0" anchor="ctr"/>
          <a:lstStyle/>
          <a:p>
            <a:pPr marL="0" indent="0" algn="ctr">
              <a:buNone/>
            </a:pPr>
            <a:r>
              <a:rPr lang="en-US" sz="800" b="1" dirty="0">
                <a:solidFill>
                  <a:srgbClr val="0B1F3A"/>
                </a:solidFill>
                <a:latin typeface="Calibri" pitchFamily="34" charset="0"/>
                <a:ea typeface="Calibri" pitchFamily="34" charset="-122"/>
                <a:cs typeface="Calibri" pitchFamily="34" charset="-120"/>
              </a:rPr>
              <a:t>Phase 3</a:t>
            </a:r>
            <a:endParaRPr lang="en-US" sz="800" dirty="0"/>
          </a:p>
        </p:txBody>
      </p:sp>
      <p:sp>
        <p:nvSpPr>
          <p:cNvPr id="19" name="Text 17"/>
          <p:cNvSpPr/>
          <p:nvPr/>
        </p:nvSpPr>
        <p:spPr>
          <a:xfrm>
            <a:off x="6144768" y="1682496"/>
            <a:ext cx="2377440" cy="256032"/>
          </a:xfrm>
          <a:prstGeom prst="rect">
            <a:avLst/>
          </a:prstGeom>
          <a:noFill/>
          <a:ln/>
        </p:spPr>
        <p:txBody>
          <a:bodyPr wrap="square" rtlCol="0" anchor="ctr"/>
          <a:lstStyle/>
          <a:p>
            <a:pPr marL="0" indent="0">
              <a:buNone/>
            </a:pPr>
            <a:r>
              <a:rPr lang="en-US" sz="1000" i="1" dirty="0">
                <a:solidFill>
                  <a:srgbClr val="A78BFA"/>
                </a:solidFill>
                <a:latin typeface="Calibri" pitchFamily="34" charset="0"/>
                <a:ea typeface="Calibri" pitchFamily="34" charset="-122"/>
                <a:cs typeface="Calibri" pitchFamily="34" charset="-120"/>
              </a:rPr>
              <a:t>Month 11–24</a:t>
            </a:r>
            <a:endParaRPr lang="en-US" sz="1000" dirty="0"/>
          </a:p>
        </p:txBody>
      </p:sp>
      <p:sp>
        <p:nvSpPr>
          <p:cNvPr id="20" name="Text 18"/>
          <p:cNvSpPr/>
          <p:nvPr/>
        </p:nvSpPr>
        <p:spPr>
          <a:xfrm>
            <a:off x="6144768" y="1947672"/>
            <a:ext cx="237744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Province-wide</a:t>
            </a:r>
            <a:endParaRPr lang="en-US" sz="1600" dirty="0"/>
          </a:p>
        </p:txBody>
      </p:sp>
      <p:sp>
        <p:nvSpPr>
          <p:cNvPr id="21" name="Text 19"/>
          <p:cNvSpPr/>
          <p:nvPr/>
        </p:nvSpPr>
        <p:spPr>
          <a:xfrm>
            <a:off x="6144768" y="2432304"/>
            <a:ext cx="2377440" cy="2011680"/>
          </a:xfrm>
          <a:prstGeom prst="rect">
            <a:avLst/>
          </a:prstGeom>
          <a:noFill/>
          <a:ln/>
        </p:spPr>
        <p:txBody>
          <a:bodyPr wrap="square" rtlCol="0" anchor="ctr"/>
          <a:lstStyle/>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1,000+ nodes all 6 districts</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Full AI prediction engine</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Job dispatch marketplace</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City of Joburg and Emfuleni integration</a:t>
            </a:r>
            <a:endParaRPr lang="en-US" sz="1050" dirty="0"/>
          </a:p>
        </p:txBody>
      </p:sp>
      <p:sp>
        <p:nvSpPr>
          <p:cNvPr id="22" name="Shape 20"/>
          <p:cNvSpPr/>
          <p:nvPr/>
        </p:nvSpPr>
        <p:spPr>
          <a:xfrm>
            <a:off x="0" y="4754880"/>
            <a:ext cx="9144000" cy="388620"/>
          </a:xfrm>
          <a:prstGeom prst="rect">
            <a:avLst/>
          </a:prstGeom>
          <a:solidFill>
            <a:srgbClr val="00A68A"/>
          </a:solidFill>
          <a:ln w="12700">
            <a:solidFill>
              <a:srgbClr val="00A68A"/>
            </a:solidFill>
            <a:prstDash val="solid"/>
          </a:ln>
        </p:spPr>
        <p:txBody>
          <a:bodyPr/>
          <a:lstStyle/>
          <a:p>
            <a:endParaRPr lang="en-ZA"/>
          </a:p>
        </p:txBody>
      </p:sp>
      <p:sp>
        <p:nvSpPr>
          <p:cNvPr id="23" name="Text 21"/>
          <p:cNvSpPr/>
          <p:nvPr/>
        </p:nvSpPr>
        <p:spPr>
          <a:xfrm>
            <a:off x="457200" y="4773168"/>
            <a:ext cx="8229600" cy="3200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SentinelAI  ·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6217920" y="-914400"/>
            <a:ext cx="4114800" cy="4114800"/>
          </a:xfrm>
          <a:prstGeom prst="ellipse">
            <a:avLst/>
          </a:prstGeom>
          <a:solidFill>
            <a:srgbClr val="00C9A7">
              <a:alpha val="12000"/>
            </a:srgbClr>
          </a:solidFill>
          <a:ln w="6350">
            <a:solidFill>
              <a:srgbClr val="00C9A7">
                <a:alpha val="30000"/>
              </a:srgbClr>
            </a:solidFill>
            <a:prstDash val="solid"/>
          </a:ln>
        </p:spPr>
        <p:txBody>
          <a:bodyPr/>
          <a:lstStyle/>
          <a:p>
            <a:endParaRPr lang="en-ZA"/>
          </a:p>
        </p:txBody>
      </p:sp>
      <p:sp>
        <p:nvSpPr>
          <p:cNvPr id="3" name="Shape 1"/>
          <p:cNvSpPr/>
          <p:nvPr/>
        </p:nvSpPr>
        <p:spPr>
          <a:xfrm>
            <a:off x="6858000" y="-274320"/>
            <a:ext cx="2560320" cy="2560320"/>
          </a:xfrm>
          <a:prstGeom prst="ellipse">
            <a:avLst/>
          </a:prstGeom>
          <a:solidFill>
            <a:srgbClr val="00C9A7">
              <a:alpha val="25000"/>
            </a:srgbClr>
          </a:solidFill>
          <a:ln w="12700">
            <a:solidFill>
              <a:srgbClr val="00C9A7"/>
            </a:solidFill>
            <a:prstDash val="solid"/>
          </a:ln>
        </p:spPr>
        <p:txBody>
          <a:bodyPr/>
          <a:lstStyle/>
          <a:p>
            <a:endParaRPr lang="en-ZA"/>
          </a:p>
        </p:txBody>
      </p:sp>
      <p:sp>
        <p:nvSpPr>
          <p:cNvPr id="4" name="Text 2"/>
          <p:cNvSpPr/>
          <p:nvPr/>
        </p:nvSpPr>
        <p:spPr>
          <a:xfrm>
            <a:off x="640080" y="914400"/>
            <a:ext cx="7315200" cy="320040"/>
          </a:xfrm>
          <a:prstGeom prst="rect">
            <a:avLst/>
          </a:prstGeom>
          <a:noFill/>
          <a:ln/>
        </p:spPr>
        <p:txBody>
          <a:bodyPr wrap="square" rtlCol="0" anchor="ctr"/>
          <a:lstStyle/>
          <a:p>
            <a:pPr marL="0" indent="0">
              <a:buNone/>
            </a:pPr>
            <a:r>
              <a:rPr lang="en-US" sz="1100" b="1" kern="0" spc="500" dirty="0">
                <a:solidFill>
                  <a:srgbClr val="00C9A7"/>
                </a:solidFill>
                <a:latin typeface="Calibri" pitchFamily="34" charset="0"/>
                <a:ea typeface="Calibri" pitchFamily="34" charset="-122"/>
                <a:cs typeface="Calibri" pitchFamily="34" charset="-120"/>
              </a:rPr>
              <a:t>THE OPPORTUNITY</a:t>
            </a:r>
            <a:endParaRPr lang="en-US" sz="1100" dirty="0"/>
          </a:p>
        </p:txBody>
      </p:sp>
      <p:sp>
        <p:nvSpPr>
          <p:cNvPr id="5" name="Text 3"/>
          <p:cNvSpPr/>
          <p:nvPr/>
        </p:nvSpPr>
        <p:spPr>
          <a:xfrm>
            <a:off x="640080" y="1280160"/>
            <a:ext cx="7498080" cy="15544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Gauteng can lead</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Africa in smart</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infrastructure protection.</a:t>
            </a:r>
            <a:endParaRPr lang="en-US" sz="3400" dirty="0"/>
          </a:p>
        </p:txBody>
      </p:sp>
      <p:sp>
        <p:nvSpPr>
          <p:cNvPr id="6" name="Text 4"/>
          <p:cNvSpPr/>
          <p:nvPr/>
        </p:nvSpPr>
        <p:spPr>
          <a:xfrm>
            <a:off x="640080" y="2907792"/>
            <a:ext cx="7132320" cy="777240"/>
          </a:xfrm>
          <a:prstGeom prst="rect">
            <a:avLst/>
          </a:prstGeom>
          <a:noFill/>
          <a:ln/>
        </p:spPr>
        <p:txBody>
          <a:bodyPr wrap="square" rtlCol="0" anchor="ctr"/>
          <a:lstStyle/>
          <a:p>
            <a:pPr marL="0" indent="0">
              <a:buNone/>
            </a:pPr>
            <a:r>
              <a:rPr lang="en-US" sz="1400" dirty="0">
                <a:solidFill>
                  <a:srgbClr val="94A3B8"/>
                </a:solidFill>
                <a:latin typeface="Calibri" pitchFamily="34" charset="0"/>
                <a:ea typeface="Calibri" pitchFamily="34" charset="-122"/>
                <a:cs typeface="Calibri" pitchFamily="34" charset="-120"/>
              </a:rPr>
              <a:t>SentinelAI shifts Gauteng from reactive to predictive — protecting infrastructure, accelerating response, and creating sustainable employment for the communities most affected by theft.</a:t>
            </a:r>
            <a:endParaRPr lang="en-US" sz="1400" dirty="0"/>
          </a:p>
        </p:txBody>
      </p:sp>
      <p:sp>
        <p:nvSpPr>
          <p:cNvPr id="7" name="Text 5"/>
          <p:cNvSpPr/>
          <p:nvPr/>
        </p:nvSpPr>
        <p:spPr>
          <a:xfrm>
            <a:off x="640080" y="3749040"/>
            <a:ext cx="7315200" cy="402336"/>
          </a:xfrm>
          <a:prstGeom prst="rect">
            <a:avLst/>
          </a:prstGeom>
          <a:noFill/>
          <a:ln/>
        </p:spPr>
        <p:txBody>
          <a:bodyPr wrap="square" rtlCol="0" anchor="ctr"/>
          <a:lstStyle/>
          <a:p>
            <a:pPr marL="0" indent="0">
              <a:buNone/>
            </a:pPr>
            <a:r>
              <a:rPr lang="en-US" sz="1900" b="1" i="1" dirty="0">
                <a:solidFill>
                  <a:srgbClr val="00C9A7"/>
                </a:solidFill>
                <a:latin typeface="Cambria" pitchFamily="34" charset="0"/>
                <a:ea typeface="Cambria" pitchFamily="34" charset="-122"/>
                <a:cs typeface="Cambria" pitchFamily="34" charset="-120"/>
              </a:rPr>
              <a:t>Predict.  Protect.  Prevent.</a:t>
            </a:r>
            <a:endParaRPr lang="en-US" sz="1900" dirty="0"/>
          </a:p>
        </p:txBody>
      </p:sp>
      <p:sp>
        <p:nvSpPr>
          <p:cNvPr id="8" name="Shape 6"/>
          <p:cNvSpPr/>
          <p:nvPr/>
        </p:nvSpPr>
        <p:spPr>
          <a:xfrm>
            <a:off x="0" y="4754880"/>
            <a:ext cx="9144000" cy="388620"/>
          </a:xfrm>
          <a:prstGeom prst="rect">
            <a:avLst/>
          </a:prstGeom>
          <a:solidFill>
            <a:srgbClr val="00A68A"/>
          </a:solidFill>
          <a:ln w="12700">
            <a:solidFill>
              <a:srgbClr val="00A68A"/>
            </a:solidFill>
            <a:prstDash val="solid"/>
          </a:ln>
        </p:spPr>
        <p:txBody>
          <a:bodyPr/>
          <a:lstStyle/>
          <a:p>
            <a:endParaRPr lang="en-ZA"/>
          </a:p>
        </p:txBody>
      </p:sp>
      <p:sp>
        <p:nvSpPr>
          <p:cNvPr id="9" name="Text 7"/>
          <p:cNvSpPr/>
          <p:nvPr/>
        </p:nvSpPr>
        <p:spPr>
          <a:xfrm>
            <a:off x="457200" y="4773168"/>
            <a:ext cx="8229600" cy="3200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SentinelAI  ·  Gauteng G13 Hackathon 2026  ·  SentinelAI Team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1142</Words>
  <Application>Microsoft Office PowerPoint</Application>
  <PresentationFormat>On-screen Show (16:9)</PresentationFormat>
  <Paragraphs>182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SentinelAI — Gauteng Hackathon</dc:title>
  <dc:subject>PptxGenJS Presentation</dc:subject>
  <dc:creator>PptxGenJS</dc:creator>
  <cp:lastModifiedBy>Thuba Tshehlane</cp:lastModifiedBy>
  <cp:revision>2</cp:revision>
  <dcterms:created xsi:type="dcterms:W3CDTF">2026-06-11T22:20:15Z</dcterms:created>
  <dcterms:modified xsi:type="dcterms:W3CDTF">2026-06-11T22:47:17Z</dcterms:modified>
</cp:coreProperties>
</file>