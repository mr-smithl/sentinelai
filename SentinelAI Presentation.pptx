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Lato"/>
      <p:regular r:id="rId16"/>
      <p:bold r:id="rId17"/>
      <p:italic r:id="rId18"/>
      <p:boldItalic r:id="rId19"/>
    </p:embeddedFont>
    <p:embeddedFont>
      <p:font typeface="Poppins"/>
      <p:regular r:id="rId20"/>
      <p:bold r:id="rId21"/>
      <p:italic r:id="rId22"/>
      <p:boldItalic r:id="rId23"/>
    </p:embeddedFont>
    <p:embeddedFont>
      <p:font typeface="Share Tech Mono"/>
      <p:regular r:id="rId24"/>
    </p:embeddedFont>
    <p:embeddedFont>
      <p:font typeface="Orbitron"/>
      <p:regular r:id="rId25"/>
      <p:bold r:id="rId26"/>
    </p:embeddedFont>
    <p:embeddedFont>
      <p:font typeface="Orbitron ExtraBold"/>
      <p:bold r:id="rId27"/>
    </p:embeddedFont>
    <p:embeddedFont>
      <p:font typeface="Orbitron Black"/>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ShareTechMono-regular.fntdata"/><Relationship Id="rId23"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rbitron-bold.fntdata"/><Relationship Id="rId25" Type="http://schemas.openxmlformats.org/officeDocument/2006/relationships/font" Target="fonts/Orbitron-regular.fntdata"/><Relationship Id="rId28" Type="http://schemas.openxmlformats.org/officeDocument/2006/relationships/font" Target="fonts/OrbitronBlack-bold.fntdata"/><Relationship Id="rId27" Type="http://schemas.openxmlformats.org/officeDocument/2006/relationships/font" Target="fonts/OrbitronExtra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ato-bold.fntdata"/><Relationship Id="rId16" Type="http://schemas.openxmlformats.org/officeDocument/2006/relationships/font" Target="fonts/Lato-regular.fntdata"/><Relationship Id="rId19" Type="http://schemas.openxmlformats.org/officeDocument/2006/relationships/font" Target="fonts/Lato-boldItalic.fntdata"/><Relationship Id="rId18" Type="http://schemas.openxmlformats.org/officeDocument/2006/relationships/font" Target="fonts/La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9.png"/><Relationship Id="rId7" Type="http://schemas.openxmlformats.org/officeDocument/2006/relationships/image" Target="../media/image30.png"/></Relationships>
</file>

<file path=ppt/slides/_rels/slide3.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7.png"/><Relationship Id="rId13" Type="http://schemas.openxmlformats.org/officeDocument/2006/relationships/image" Target="../media/image25.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12.png"/><Relationship Id="rId15" Type="http://schemas.openxmlformats.org/officeDocument/2006/relationships/image" Target="../media/image20.png"/><Relationship Id="rId14" Type="http://schemas.openxmlformats.org/officeDocument/2006/relationships/image" Target="../media/image2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0"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79.png"/><Relationship Id="rId9" Type="http://schemas.openxmlformats.org/officeDocument/2006/relationships/image" Target="../media/image32.png"/><Relationship Id="rId5" Type="http://schemas.openxmlformats.org/officeDocument/2006/relationships/image" Target="../media/image36.png"/><Relationship Id="rId6" Type="http://schemas.openxmlformats.org/officeDocument/2006/relationships/image" Target="../media/image26.png"/><Relationship Id="rId7" Type="http://schemas.openxmlformats.org/officeDocument/2006/relationships/image" Target="../media/image18.png"/><Relationship Id="rId8" Type="http://schemas.openxmlformats.org/officeDocument/2006/relationships/image" Target="../media/image21.png"/></Relationships>
</file>

<file path=ppt/slides/_rels/slide5.xml.rels><?xml version="1.0" encoding="UTF-8" standalone="yes"?><Relationships xmlns="http://schemas.openxmlformats.org/package/2006/relationships"><Relationship Id="rId20" Type="http://schemas.openxmlformats.org/officeDocument/2006/relationships/image" Target="../media/image47.png"/><Relationship Id="rId11" Type="http://schemas.openxmlformats.org/officeDocument/2006/relationships/image" Target="../media/image40.png"/><Relationship Id="rId22" Type="http://schemas.openxmlformats.org/officeDocument/2006/relationships/image" Target="../media/image53.png"/><Relationship Id="rId10" Type="http://schemas.openxmlformats.org/officeDocument/2006/relationships/image" Target="../media/image37.png"/><Relationship Id="rId21" Type="http://schemas.openxmlformats.org/officeDocument/2006/relationships/image" Target="../media/image45.png"/><Relationship Id="rId13" Type="http://schemas.openxmlformats.org/officeDocument/2006/relationships/image" Target="../media/image43.png"/><Relationship Id="rId12"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24.png"/><Relationship Id="rId9" Type="http://schemas.openxmlformats.org/officeDocument/2006/relationships/image" Target="../media/image33.png"/><Relationship Id="rId15" Type="http://schemas.openxmlformats.org/officeDocument/2006/relationships/image" Target="../media/image41.png"/><Relationship Id="rId14" Type="http://schemas.openxmlformats.org/officeDocument/2006/relationships/image" Target="../media/image38.png"/><Relationship Id="rId17" Type="http://schemas.openxmlformats.org/officeDocument/2006/relationships/image" Target="../media/image50.png"/><Relationship Id="rId16" Type="http://schemas.openxmlformats.org/officeDocument/2006/relationships/image" Target="../media/image42.png"/><Relationship Id="rId5" Type="http://schemas.openxmlformats.org/officeDocument/2006/relationships/image" Target="../media/image27.png"/><Relationship Id="rId19" Type="http://schemas.openxmlformats.org/officeDocument/2006/relationships/image" Target="../media/image46.png"/><Relationship Id="rId6" Type="http://schemas.openxmlformats.org/officeDocument/2006/relationships/image" Target="../media/image34.png"/><Relationship Id="rId18" Type="http://schemas.openxmlformats.org/officeDocument/2006/relationships/image" Target="../media/image44.png"/><Relationship Id="rId7" Type="http://schemas.openxmlformats.org/officeDocument/2006/relationships/image" Target="../media/image35.png"/><Relationship Id="rId8" Type="http://schemas.openxmlformats.org/officeDocument/2006/relationships/image" Target="../media/image31.png"/></Relationships>
</file>

<file path=ppt/slides/_rels/slide6.xml.rels><?xml version="1.0" encoding="UTF-8" standalone="yes"?><Relationships xmlns="http://schemas.openxmlformats.org/package/2006/relationships"><Relationship Id="rId11" Type="http://schemas.openxmlformats.org/officeDocument/2006/relationships/image" Target="../media/image59.png"/><Relationship Id="rId10"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1.png"/><Relationship Id="rId4" Type="http://schemas.openxmlformats.org/officeDocument/2006/relationships/image" Target="../media/image48.png"/><Relationship Id="rId9" Type="http://schemas.openxmlformats.org/officeDocument/2006/relationships/image" Target="../media/image56.png"/><Relationship Id="rId5" Type="http://schemas.openxmlformats.org/officeDocument/2006/relationships/image" Target="../media/image52.png"/><Relationship Id="rId6" Type="http://schemas.openxmlformats.org/officeDocument/2006/relationships/image" Target="../media/image5.png"/><Relationship Id="rId7" Type="http://schemas.openxmlformats.org/officeDocument/2006/relationships/image" Target="../media/image54.png"/><Relationship Id="rId8" Type="http://schemas.openxmlformats.org/officeDocument/2006/relationships/image" Target="../media/image49.png"/></Relationships>
</file>

<file path=ppt/slides/_rels/slide7.xml.rels><?xml version="1.0" encoding="UTF-8" standalone="yes"?><Relationships xmlns="http://schemas.openxmlformats.org/package/2006/relationships"><Relationship Id="rId11" Type="http://schemas.openxmlformats.org/officeDocument/2006/relationships/image" Target="../media/image67.png"/><Relationship Id="rId10" Type="http://schemas.openxmlformats.org/officeDocument/2006/relationships/image" Target="../media/image60.png"/><Relationship Id="rId12"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7.png"/><Relationship Id="rId4" Type="http://schemas.openxmlformats.org/officeDocument/2006/relationships/image" Target="../media/image63.png"/><Relationship Id="rId9" Type="http://schemas.openxmlformats.org/officeDocument/2006/relationships/image" Target="../media/image64.png"/><Relationship Id="rId5" Type="http://schemas.openxmlformats.org/officeDocument/2006/relationships/image" Target="../media/image58.png"/><Relationship Id="rId6" Type="http://schemas.openxmlformats.org/officeDocument/2006/relationships/image" Target="../media/image62.png"/><Relationship Id="rId7" Type="http://schemas.openxmlformats.org/officeDocument/2006/relationships/image" Target="../media/image61.png"/><Relationship Id="rId8" Type="http://schemas.openxmlformats.org/officeDocument/2006/relationships/image" Target="../media/image6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5.png"/><Relationship Id="rId4" Type="http://schemas.openxmlformats.org/officeDocument/2006/relationships/image" Target="../media/image68.png"/><Relationship Id="rId5" Type="http://schemas.openxmlformats.org/officeDocument/2006/relationships/image" Target="../media/image72.png"/><Relationship Id="rId6" Type="http://schemas.openxmlformats.org/officeDocument/2006/relationships/image" Target="../media/image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69.png"/><Relationship Id="rId7" Type="http://schemas.openxmlformats.org/officeDocument/2006/relationships/image" Target="../media/image76.png"/><Relationship Id="rId8" Type="http://schemas.openxmlformats.org/officeDocument/2006/relationships/image" Target="../media/image7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3.png"/><Relationship Id="rId4" Type="http://schemas.openxmlformats.org/officeDocument/2006/relationships/image" Target="../media/image70.png"/><Relationship Id="rId5" Type="http://schemas.openxmlformats.org/officeDocument/2006/relationships/image" Target="../media/image81.png"/><Relationship Id="rId6" Type="http://schemas.openxmlformats.org/officeDocument/2006/relationships/image" Target="../media/image78.png"/><Relationship Id="rId7"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6804570" y="2509837"/>
            <a:ext cx="4663529" cy="107632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6804570" y="3776662"/>
            <a:ext cx="4663529" cy="1076325"/>
          </a:xfrm>
          <a:prstGeom prst="rect">
            <a:avLst/>
          </a:prstGeom>
          <a:noFill/>
          <a:ln>
            <a:noFill/>
          </a:ln>
        </p:spPr>
      </p:pic>
      <p:sp>
        <p:nvSpPr>
          <p:cNvPr id="87" name="Google Shape;87;p13"/>
          <p:cNvSpPr txBox="1"/>
          <p:nvPr/>
        </p:nvSpPr>
        <p:spPr>
          <a:xfrm>
            <a:off x="723900" y="2896790"/>
            <a:ext cx="5984654" cy="96381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450" u="none" cap="none" strike="noStrike">
                <a:solidFill>
                  <a:srgbClr val="FFFFFF"/>
                </a:solidFill>
                <a:latin typeface="Orbitron Black"/>
                <a:ea typeface="Orbitron Black"/>
                <a:cs typeface="Orbitron Black"/>
                <a:sym typeface="Orbitron Black"/>
              </a:rPr>
              <a:t>SECURING OUR </a:t>
            </a:r>
            <a:br>
              <a:rPr b="0" i="0" lang="en-US" sz="1800" u="none" cap="none" strike="noStrike">
                <a:solidFill>
                  <a:schemeClr val="dk1"/>
                </a:solidFill>
                <a:latin typeface="Calibri"/>
                <a:ea typeface="Calibri"/>
                <a:cs typeface="Calibri"/>
                <a:sym typeface="Calibri"/>
              </a:rPr>
            </a:br>
            <a:r>
              <a:rPr b="0" i="0" lang="en-US" sz="3450" u="none" cap="none" strike="noStrike">
                <a:solidFill>
                  <a:srgbClr val="38BDF8"/>
                </a:solidFill>
                <a:latin typeface="Orbitron Black"/>
                <a:ea typeface="Orbitron Black"/>
                <a:cs typeface="Orbitron Black"/>
                <a:sym typeface="Orbitron Black"/>
              </a:rPr>
              <a:t>CRITICAL LIFELINES</a:t>
            </a:r>
            <a:endParaRPr/>
          </a:p>
        </p:txBody>
      </p:sp>
      <p:sp>
        <p:nvSpPr>
          <p:cNvPr id="88" name="Google Shape;88;p13"/>
          <p:cNvSpPr txBox="1"/>
          <p:nvPr/>
        </p:nvSpPr>
        <p:spPr>
          <a:xfrm>
            <a:off x="723900" y="4098726"/>
            <a:ext cx="5699670" cy="776882"/>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94A3B8"/>
                </a:solidFill>
                <a:latin typeface="Lato"/>
                <a:ea typeface="Lato"/>
                <a:cs typeface="Lato"/>
                <a:sym typeface="Lato"/>
              </a:rPr>
              <a:t>South Africa's core infrastructure is systematically degraded by industrial-scale syndicates. Cable theft, grid sabotage, and base station looting cost billions and paralyze vital public utilities.</a:t>
            </a:r>
            <a:endParaRPr/>
          </a:p>
        </p:txBody>
      </p:sp>
      <p:pic>
        <p:nvPicPr>
          <p:cNvPr descr="image.png" id="89" name="Google Shape;89;p13"/>
          <p:cNvPicPr preferRelativeResize="0"/>
          <p:nvPr/>
        </p:nvPicPr>
        <p:blipFill rotWithShape="1">
          <a:blip r:embed="rId6">
            <a:alphaModFix/>
          </a:blip>
          <a:srcRect b="0" l="0" r="0" t="0"/>
          <a:stretch/>
        </p:blipFill>
        <p:spPr>
          <a:xfrm>
            <a:off x="723900" y="2487215"/>
            <a:ext cx="1714500" cy="219075"/>
          </a:xfrm>
          <a:prstGeom prst="rect">
            <a:avLst/>
          </a:prstGeom>
          <a:noFill/>
          <a:ln>
            <a:noFill/>
          </a:ln>
        </p:spPr>
      </p:pic>
      <p:sp>
        <p:nvSpPr>
          <p:cNvPr id="90" name="Google Shape;90;p13"/>
          <p:cNvSpPr txBox="1"/>
          <p:nvPr/>
        </p:nvSpPr>
        <p:spPr>
          <a:xfrm>
            <a:off x="7080795" y="2809875"/>
            <a:ext cx="13430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38BDF8"/>
                </a:solidFill>
                <a:latin typeface="Orbitron ExtraBold"/>
                <a:ea typeface="Orbitron ExtraBold"/>
                <a:cs typeface="Orbitron ExtraBold"/>
                <a:sym typeface="Orbitron ExtraBold"/>
              </a:rPr>
              <a:t>R187B</a:t>
            </a:r>
            <a:endParaRPr/>
          </a:p>
        </p:txBody>
      </p:sp>
      <p:sp>
        <p:nvSpPr>
          <p:cNvPr id="91" name="Google Shape;91;p13"/>
          <p:cNvSpPr txBox="1"/>
          <p:nvPr/>
        </p:nvSpPr>
        <p:spPr>
          <a:xfrm>
            <a:off x="8652420" y="2747962"/>
            <a:ext cx="2577554" cy="600075"/>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1" i="0" lang="en-US" sz="1125" u="none" cap="none" strike="noStrike">
                <a:solidFill>
                  <a:srgbClr val="F1F5F9"/>
                </a:solidFill>
                <a:latin typeface="Lato"/>
                <a:ea typeface="Lato"/>
                <a:cs typeface="Lato"/>
                <a:sym typeface="Lato"/>
              </a:rPr>
              <a:t>Annual Economic Impact</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94A3B8"/>
                </a:solidFill>
                <a:latin typeface="Lato"/>
                <a:ea typeface="Lato"/>
                <a:cs typeface="Lato"/>
                <a:sym typeface="Lato"/>
              </a:rPr>
              <a:t> Broad macro-economic downtime and grid disruption losses</a:t>
            </a:r>
            <a:endParaRPr/>
          </a:p>
        </p:txBody>
      </p:sp>
      <p:sp>
        <p:nvSpPr>
          <p:cNvPr id="92" name="Google Shape;92;p13"/>
          <p:cNvSpPr txBox="1"/>
          <p:nvPr/>
        </p:nvSpPr>
        <p:spPr>
          <a:xfrm>
            <a:off x="7080795" y="4076700"/>
            <a:ext cx="12763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38BDF8"/>
                </a:solidFill>
                <a:latin typeface="Orbitron ExtraBold"/>
                <a:ea typeface="Orbitron ExtraBold"/>
                <a:cs typeface="Orbitron ExtraBold"/>
                <a:sym typeface="Orbitron ExtraBold"/>
              </a:rPr>
              <a:t>R7.0B</a:t>
            </a:r>
            <a:endParaRPr/>
          </a:p>
        </p:txBody>
      </p:sp>
      <p:sp>
        <p:nvSpPr>
          <p:cNvPr id="93" name="Google Shape;93;p13"/>
          <p:cNvSpPr txBox="1"/>
          <p:nvPr/>
        </p:nvSpPr>
        <p:spPr>
          <a:xfrm>
            <a:off x="8585745" y="4014787"/>
            <a:ext cx="2644229" cy="600075"/>
          </a:xfrm>
          <a:prstGeom prst="rect">
            <a:avLst/>
          </a:prstGeom>
          <a:noFill/>
          <a:ln>
            <a:noFill/>
          </a:ln>
        </p:spPr>
        <p:txBody>
          <a:bodyPr anchorCtr="0" anchor="t" bIns="0" lIns="0" spcFirstLastPara="1" rIns="0" wrap="square" tIns="0">
            <a:spAutoFit/>
          </a:bodyPr>
          <a:lstStyle/>
          <a:p>
            <a:pPr indent="0" lvl="0" marL="0" marR="0" rtl="0" algn="l">
              <a:lnSpc>
                <a:spcPct val="87500"/>
              </a:lnSpc>
              <a:spcBef>
                <a:spcPts val="0"/>
              </a:spcBef>
              <a:spcAft>
                <a:spcPts val="0"/>
              </a:spcAft>
              <a:buNone/>
            </a:pPr>
            <a:r>
              <a:rPr b="1" i="0" lang="en-US" sz="1125" u="none" cap="none" strike="noStrike">
                <a:solidFill>
                  <a:srgbClr val="F1F5F9"/>
                </a:solidFill>
                <a:latin typeface="Lato"/>
                <a:ea typeface="Lato"/>
                <a:cs typeface="Lato"/>
                <a:sym typeface="Lato"/>
              </a:rPr>
              <a:t>Direct SOE Losses</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94A3B8"/>
                </a:solidFill>
                <a:latin typeface="Lato"/>
                <a:ea typeface="Lato"/>
                <a:cs typeface="Lato"/>
                <a:sym typeface="Lato"/>
              </a:rPr>
              <a:t> Physical asset replacement and infrastructure damage costs</a:t>
            </a:r>
            <a:endParaRPr/>
          </a:p>
        </p:txBody>
      </p:sp>
      <p:sp>
        <p:nvSpPr>
          <p:cNvPr id="94" name="Google Shape;94;p13"/>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TARGET STATUS: SYS_CRITICAL_REPORT ] GRID RISK THREAT RADAR</a:t>
            </a:r>
            <a:endParaRPr/>
          </a:p>
        </p:txBody>
      </p:sp>
      <p:sp>
        <p:nvSpPr>
          <p:cNvPr id="95" name="Google Shape;95;p13"/>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3"/>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3"/>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01" name="Shape 101"/>
        <p:cNvGrpSpPr/>
        <p:nvPr/>
      </p:nvGrpSpPr>
      <p:grpSpPr>
        <a:xfrm>
          <a:off x="0" y="0"/>
          <a:ext cx="0" cy="0"/>
          <a:chOff x="0" y="0"/>
          <a:chExt cx="0" cy="0"/>
        </a:xfrm>
      </p:grpSpPr>
      <p:pic>
        <p:nvPicPr>
          <p:cNvPr descr="image.png" id="102" name="Google Shape;10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3" name="Google Shape;103;p14"/>
          <p:cNvPicPr preferRelativeResize="0"/>
          <p:nvPr/>
        </p:nvPicPr>
        <p:blipFill rotWithShape="1">
          <a:blip r:embed="rId4">
            <a:alphaModFix/>
          </a:blip>
          <a:srcRect b="0" l="0" r="0" t="0"/>
          <a:stretch/>
        </p:blipFill>
        <p:spPr>
          <a:xfrm>
            <a:off x="6804570" y="3046958"/>
            <a:ext cx="4663529" cy="1895475"/>
          </a:xfrm>
          <a:prstGeom prst="rect">
            <a:avLst/>
          </a:prstGeom>
          <a:noFill/>
          <a:ln>
            <a:noFill/>
          </a:ln>
        </p:spPr>
      </p:pic>
      <p:sp>
        <p:nvSpPr>
          <p:cNvPr id="104" name="Google Shape;104;p14"/>
          <p:cNvSpPr txBox="1"/>
          <p:nvPr/>
        </p:nvSpPr>
        <p:spPr>
          <a:xfrm>
            <a:off x="1057275" y="3061245"/>
            <a:ext cx="536629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Eskom Grid Sabotage:</a:t>
            </a:r>
            <a:r>
              <a:rPr b="0" i="0" lang="en-US" sz="1275" u="none" cap="none" strike="noStrike">
                <a:solidFill>
                  <a:srgbClr val="94A3B8"/>
                </a:solidFill>
                <a:latin typeface="Lato"/>
                <a:ea typeface="Lato"/>
                <a:cs typeface="Lato"/>
                <a:sym typeface="Lato"/>
              </a:rPr>
              <a:t> High-risk substation looting, transformer oil draining, and steel structural lattice pylon damage.</a:t>
            </a:r>
            <a:endParaRPr/>
          </a:p>
        </p:txBody>
      </p:sp>
      <p:sp>
        <p:nvSpPr>
          <p:cNvPr id="105" name="Google Shape;105;p14"/>
          <p:cNvSpPr txBox="1"/>
          <p:nvPr/>
        </p:nvSpPr>
        <p:spPr>
          <a:xfrm>
            <a:off x="1057275" y="3747045"/>
            <a:ext cx="536629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Transnet Logistics Theft:</a:t>
            </a:r>
            <a:r>
              <a:rPr b="0" i="0" lang="en-US" sz="1275" u="none" cap="none" strike="noStrike">
                <a:solidFill>
                  <a:srgbClr val="94A3B8"/>
                </a:solidFill>
                <a:latin typeface="Lato"/>
                <a:ea typeface="Lato"/>
                <a:cs typeface="Lato"/>
                <a:sym typeface="Lato"/>
              </a:rPr>
              <a:t> Copper overhead traction cables systematically stripped across vital freight lanes.</a:t>
            </a:r>
            <a:endParaRPr/>
          </a:p>
        </p:txBody>
      </p:sp>
      <p:sp>
        <p:nvSpPr>
          <p:cNvPr id="106" name="Google Shape;106;p14"/>
          <p:cNvSpPr txBox="1"/>
          <p:nvPr/>
        </p:nvSpPr>
        <p:spPr>
          <a:xfrm>
            <a:off x="1057275" y="4432845"/>
            <a:ext cx="536629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PRASA Rail Decay:</a:t>
            </a:r>
            <a:r>
              <a:rPr b="0" i="0" lang="en-US" sz="1275" u="none" cap="none" strike="noStrike">
                <a:solidFill>
                  <a:srgbClr val="94A3B8"/>
                </a:solidFill>
                <a:latin typeface="Lato"/>
                <a:ea typeface="Lato"/>
                <a:cs typeface="Lato"/>
                <a:sym typeface="Lato"/>
              </a:rPr>
              <a:t> Mass targeting of station sub-assemblies and copper wiring halting public rail routes.</a:t>
            </a:r>
            <a:endParaRPr/>
          </a:p>
        </p:txBody>
      </p:sp>
      <p:pic>
        <p:nvPicPr>
          <p:cNvPr descr="image.png" id="107" name="Google Shape;107;p14"/>
          <p:cNvPicPr preferRelativeResize="0"/>
          <p:nvPr/>
        </p:nvPicPr>
        <p:blipFill rotWithShape="1">
          <a:blip r:embed="rId5">
            <a:alphaModFix/>
          </a:blip>
          <a:srcRect b="0" l="0" r="0" t="0"/>
          <a:stretch/>
        </p:blipFill>
        <p:spPr>
          <a:xfrm>
            <a:off x="723900" y="3094583"/>
            <a:ext cx="152400" cy="180975"/>
          </a:xfrm>
          <a:prstGeom prst="rect">
            <a:avLst/>
          </a:prstGeom>
          <a:noFill/>
          <a:ln>
            <a:noFill/>
          </a:ln>
        </p:spPr>
      </p:pic>
      <p:pic>
        <p:nvPicPr>
          <p:cNvPr descr="image.png" id="108" name="Google Shape;108;p14"/>
          <p:cNvPicPr preferRelativeResize="0"/>
          <p:nvPr/>
        </p:nvPicPr>
        <p:blipFill rotWithShape="1">
          <a:blip r:embed="rId6">
            <a:alphaModFix/>
          </a:blip>
          <a:srcRect b="0" l="0" r="0" t="0"/>
          <a:stretch/>
        </p:blipFill>
        <p:spPr>
          <a:xfrm>
            <a:off x="723900" y="3780383"/>
            <a:ext cx="152400" cy="180975"/>
          </a:xfrm>
          <a:prstGeom prst="rect">
            <a:avLst/>
          </a:prstGeom>
          <a:noFill/>
          <a:ln>
            <a:noFill/>
          </a:ln>
        </p:spPr>
      </p:pic>
      <p:pic>
        <p:nvPicPr>
          <p:cNvPr descr="image.png" id="109" name="Google Shape;109;p14"/>
          <p:cNvPicPr preferRelativeResize="0"/>
          <p:nvPr/>
        </p:nvPicPr>
        <p:blipFill rotWithShape="1">
          <a:blip r:embed="rId7">
            <a:alphaModFix/>
          </a:blip>
          <a:srcRect b="0" l="0" r="0" t="0"/>
          <a:stretch/>
        </p:blipFill>
        <p:spPr>
          <a:xfrm>
            <a:off x="723900" y="4466183"/>
            <a:ext cx="152400" cy="180975"/>
          </a:xfrm>
          <a:prstGeom prst="rect">
            <a:avLst/>
          </a:prstGeom>
          <a:noFill/>
          <a:ln>
            <a:noFill/>
          </a:ln>
        </p:spPr>
      </p:pic>
      <p:sp>
        <p:nvSpPr>
          <p:cNvPr id="110" name="Google Shape;110;p14"/>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SYSTEM DIAGNOSTICS: COST_METRICS ] DAMAGE LOSS REPAIR INDEX</a:t>
            </a:r>
            <a:endParaRPr/>
          </a:p>
        </p:txBody>
      </p:sp>
      <p:sp>
        <p:nvSpPr>
          <p:cNvPr id="111" name="Google Shape;111;p14"/>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4"/>
          <p:cNvSpPr txBox="1"/>
          <p:nvPr/>
        </p:nvSpPr>
        <p:spPr>
          <a:xfrm>
            <a:off x="723900" y="10382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DIRECT YEARLY </a:t>
            </a:r>
            <a:r>
              <a:rPr b="1" i="0" lang="en-US" sz="2550" u="none" cap="none" strike="noStrike">
                <a:solidFill>
                  <a:srgbClr val="38BDF8"/>
                </a:solidFill>
                <a:latin typeface="Orbitron"/>
                <a:ea typeface="Orbitron"/>
                <a:cs typeface="Orbitron"/>
                <a:sym typeface="Orbitron"/>
              </a:rPr>
              <a:t>DAMAGE METRICS</a:t>
            </a:r>
            <a:endParaRPr/>
          </a:p>
        </p:txBody>
      </p:sp>
      <p:sp>
        <p:nvSpPr>
          <p:cNvPr id="113" name="Google Shape;113;p14"/>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4"/>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18" name="Shape 118"/>
        <p:cNvGrpSpPr/>
        <p:nvPr/>
      </p:nvGrpSpPr>
      <p:grpSpPr>
        <a:xfrm>
          <a:off x="0" y="0"/>
          <a:ext cx="0" cy="0"/>
          <a:chOff x="0" y="0"/>
          <a:chExt cx="0" cy="0"/>
        </a:xfrm>
      </p:grpSpPr>
      <p:pic>
        <p:nvPicPr>
          <p:cNvPr descr="image.png" id="119" name="Google Shape;11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 name="Google Shape;120;p15"/>
          <p:cNvPicPr preferRelativeResize="0"/>
          <p:nvPr/>
        </p:nvPicPr>
        <p:blipFill rotWithShape="1">
          <a:blip r:embed="rId4">
            <a:alphaModFix/>
          </a:blip>
          <a:srcRect b="0" l="0" r="0" t="0"/>
          <a:stretch/>
        </p:blipFill>
        <p:spPr>
          <a:xfrm>
            <a:off x="7063680" y="2184945"/>
            <a:ext cx="4404419" cy="1714500"/>
          </a:xfrm>
          <a:prstGeom prst="rect">
            <a:avLst/>
          </a:prstGeom>
          <a:noFill/>
          <a:ln>
            <a:noFill/>
          </a:ln>
        </p:spPr>
      </p:pic>
      <p:pic>
        <p:nvPicPr>
          <p:cNvPr descr="image.png" id="121" name="Google Shape;121;p15"/>
          <p:cNvPicPr preferRelativeResize="0"/>
          <p:nvPr/>
        </p:nvPicPr>
        <p:blipFill rotWithShape="1">
          <a:blip r:embed="rId4">
            <a:alphaModFix/>
          </a:blip>
          <a:srcRect b="0" l="0" r="0" t="0"/>
          <a:stretch/>
        </p:blipFill>
        <p:spPr>
          <a:xfrm>
            <a:off x="7063680" y="4089945"/>
            <a:ext cx="4404419" cy="1714500"/>
          </a:xfrm>
          <a:prstGeom prst="rect">
            <a:avLst/>
          </a:prstGeom>
          <a:noFill/>
          <a:ln>
            <a:noFill/>
          </a:ln>
        </p:spPr>
      </p:pic>
      <p:pic>
        <p:nvPicPr>
          <p:cNvPr descr="image.png" id="122" name="Google Shape;122;p15"/>
          <p:cNvPicPr preferRelativeResize="0"/>
          <p:nvPr/>
        </p:nvPicPr>
        <p:blipFill rotWithShape="1">
          <a:blip r:embed="rId5">
            <a:alphaModFix/>
          </a:blip>
          <a:srcRect b="0" l="0" r="0" t="0"/>
          <a:stretch/>
        </p:blipFill>
        <p:spPr>
          <a:xfrm>
            <a:off x="7082730" y="2203995"/>
            <a:ext cx="4366319" cy="1676400"/>
          </a:xfrm>
          <a:prstGeom prst="rect">
            <a:avLst/>
          </a:prstGeom>
          <a:noFill/>
          <a:ln>
            <a:noFill/>
          </a:ln>
        </p:spPr>
      </p:pic>
      <p:pic>
        <p:nvPicPr>
          <p:cNvPr descr="image.png" id="123" name="Google Shape;123;p15"/>
          <p:cNvPicPr preferRelativeResize="0"/>
          <p:nvPr/>
        </p:nvPicPr>
        <p:blipFill rotWithShape="1">
          <a:blip r:embed="rId5">
            <a:alphaModFix/>
          </a:blip>
          <a:srcRect b="0" l="0" r="0" t="0"/>
          <a:stretch/>
        </p:blipFill>
        <p:spPr>
          <a:xfrm>
            <a:off x="7082730" y="4108995"/>
            <a:ext cx="4366319" cy="1676400"/>
          </a:xfrm>
          <a:prstGeom prst="rect">
            <a:avLst/>
          </a:prstGeom>
          <a:noFill/>
          <a:ln>
            <a:noFill/>
          </a:ln>
        </p:spPr>
      </p:pic>
      <p:pic>
        <p:nvPicPr>
          <p:cNvPr descr="image.png" id="124" name="Google Shape;124;p15"/>
          <p:cNvPicPr preferRelativeResize="0"/>
          <p:nvPr/>
        </p:nvPicPr>
        <p:blipFill rotWithShape="1">
          <a:blip r:embed="rId6">
            <a:alphaModFix/>
          </a:blip>
          <a:srcRect b="0" l="0" r="0" t="0"/>
          <a:stretch/>
        </p:blipFill>
        <p:spPr>
          <a:xfrm>
            <a:off x="10329862" y="2280195"/>
            <a:ext cx="1042987" cy="200025"/>
          </a:xfrm>
          <a:prstGeom prst="rect">
            <a:avLst/>
          </a:prstGeom>
          <a:noFill/>
          <a:ln>
            <a:noFill/>
          </a:ln>
        </p:spPr>
      </p:pic>
      <p:pic>
        <p:nvPicPr>
          <p:cNvPr descr="image.png" id="125" name="Google Shape;125;p15"/>
          <p:cNvPicPr preferRelativeResize="0"/>
          <p:nvPr/>
        </p:nvPicPr>
        <p:blipFill rotWithShape="1">
          <a:blip r:embed="rId7">
            <a:alphaModFix/>
          </a:blip>
          <a:srcRect b="0" l="0" r="0" t="0"/>
          <a:stretch/>
        </p:blipFill>
        <p:spPr>
          <a:xfrm>
            <a:off x="10179992" y="4185195"/>
            <a:ext cx="1192857" cy="200025"/>
          </a:xfrm>
          <a:prstGeom prst="rect">
            <a:avLst/>
          </a:prstGeom>
          <a:noFill/>
          <a:ln>
            <a:noFill/>
          </a:ln>
        </p:spPr>
      </p:pic>
      <p:sp>
        <p:nvSpPr>
          <p:cNvPr id="126" name="Google Shape;126;p15"/>
          <p:cNvSpPr txBox="1"/>
          <p:nvPr/>
        </p:nvSpPr>
        <p:spPr>
          <a:xfrm>
            <a:off x="723900" y="2841277"/>
            <a:ext cx="6256719"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FFFFF"/>
                </a:solidFill>
                <a:latin typeface="Orbitron"/>
                <a:ea typeface="Orbitron"/>
                <a:cs typeface="Orbitron"/>
                <a:sym typeface="Orbitron"/>
              </a:rPr>
              <a:t>Rugged Sensor Node Deployment</a:t>
            </a:r>
            <a:endParaRPr/>
          </a:p>
        </p:txBody>
      </p:sp>
      <p:sp>
        <p:nvSpPr>
          <p:cNvPr id="127" name="Google Shape;127;p15"/>
          <p:cNvSpPr txBox="1"/>
          <p:nvPr/>
        </p:nvSpPr>
        <p:spPr>
          <a:xfrm>
            <a:off x="723900" y="3241327"/>
            <a:ext cx="595878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Lato"/>
                <a:ea typeface="Lato"/>
                <a:cs typeface="Lato"/>
                <a:sym typeface="Lato"/>
              </a:rPr>
              <a:t>SentinelAI builds hardened IoT field modules using real-time edge micro-controllers to process spatial alerts and isolate structural tampering on impact.</a:t>
            </a:r>
            <a:endParaRPr/>
          </a:p>
        </p:txBody>
      </p:sp>
      <p:sp>
        <p:nvSpPr>
          <p:cNvPr id="128" name="Google Shape;128;p15"/>
          <p:cNvSpPr txBox="1"/>
          <p:nvPr/>
        </p:nvSpPr>
        <p:spPr>
          <a:xfrm>
            <a:off x="1057275" y="3967013"/>
            <a:ext cx="562540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Multi-Sensor Fusion Arrays:</a:t>
            </a:r>
            <a:r>
              <a:rPr b="0" i="0" lang="en-US" sz="1275" u="none" cap="none" strike="noStrike">
                <a:solidFill>
                  <a:srgbClr val="94A3B8"/>
                </a:solidFill>
                <a:latin typeface="Lato"/>
                <a:ea typeface="Lato"/>
                <a:cs typeface="Lato"/>
                <a:sym typeface="Lato"/>
              </a:rPr>
              <a:t> Accelerometer, vibration, and thermal layers analyze threats natively on the asset.</a:t>
            </a:r>
            <a:endParaRPr/>
          </a:p>
        </p:txBody>
      </p:sp>
      <p:sp>
        <p:nvSpPr>
          <p:cNvPr id="129" name="Google Shape;129;p15"/>
          <p:cNvSpPr txBox="1"/>
          <p:nvPr/>
        </p:nvSpPr>
        <p:spPr>
          <a:xfrm>
            <a:off x="1057275" y="4652813"/>
            <a:ext cx="562540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Grid-Independent Backhaul:</a:t>
            </a:r>
            <a:r>
              <a:rPr b="0" i="0" lang="en-US" sz="1275" u="none" cap="none" strike="noStrike">
                <a:solidFill>
                  <a:srgbClr val="94A3B8"/>
                </a:solidFill>
                <a:latin typeface="Lato"/>
                <a:ea typeface="Lato"/>
                <a:cs typeface="Lato"/>
                <a:sym typeface="Lato"/>
              </a:rPr>
              <a:t> Battery arrays combined with encrypted LoRaWAN meshes resist power outages.</a:t>
            </a:r>
            <a:endParaRPr/>
          </a:p>
        </p:txBody>
      </p:sp>
      <p:pic>
        <p:nvPicPr>
          <p:cNvPr descr="image.png" id="130" name="Google Shape;130;p15"/>
          <p:cNvPicPr preferRelativeResize="0"/>
          <p:nvPr/>
        </p:nvPicPr>
        <p:blipFill rotWithShape="1">
          <a:blip r:embed="rId8">
            <a:alphaModFix/>
          </a:blip>
          <a:srcRect b="0" l="0" r="0" t="0"/>
          <a:stretch/>
        </p:blipFill>
        <p:spPr>
          <a:xfrm>
            <a:off x="7082730" y="2203995"/>
            <a:ext cx="4366319" cy="1676400"/>
          </a:xfrm>
          <a:prstGeom prst="rect">
            <a:avLst/>
          </a:prstGeom>
          <a:noFill/>
          <a:ln>
            <a:noFill/>
          </a:ln>
        </p:spPr>
      </p:pic>
      <p:pic>
        <p:nvPicPr>
          <p:cNvPr descr="image.png" id="131" name="Google Shape;131;p15"/>
          <p:cNvPicPr preferRelativeResize="0"/>
          <p:nvPr/>
        </p:nvPicPr>
        <p:blipFill rotWithShape="1">
          <a:blip r:embed="rId9">
            <a:alphaModFix/>
          </a:blip>
          <a:srcRect b="0" l="0" r="0" t="0"/>
          <a:stretch/>
        </p:blipFill>
        <p:spPr>
          <a:xfrm>
            <a:off x="7082730" y="4108995"/>
            <a:ext cx="4366319" cy="1676400"/>
          </a:xfrm>
          <a:prstGeom prst="rect">
            <a:avLst/>
          </a:prstGeom>
          <a:noFill/>
          <a:ln>
            <a:noFill/>
          </a:ln>
        </p:spPr>
      </p:pic>
      <p:pic>
        <p:nvPicPr>
          <p:cNvPr descr="image.png" id="132" name="Google Shape;132;p15"/>
          <p:cNvPicPr preferRelativeResize="0"/>
          <p:nvPr/>
        </p:nvPicPr>
        <p:blipFill rotWithShape="1">
          <a:blip r:embed="rId10">
            <a:alphaModFix/>
          </a:blip>
          <a:srcRect b="0" l="0" r="0" t="0"/>
          <a:stretch/>
        </p:blipFill>
        <p:spPr>
          <a:xfrm>
            <a:off x="7235130" y="2323058"/>
            <a:ext cx="104775" cy="95250"/>
          </a:xfrm>
          <a:prstGeom prst="rect">
            <a:avLst/>
          </a:prstGeom>
          <a:noFill/>
          <a:ln>
            <a:noFill/>
          </a:ln>
        </p:spPr>
      </p:pic>
      <p:pic>
        <p:nvPicPr>
          <p:cNvPr descr="image.png" id="133" name="Google Shape;133;p15"/>
          <p:cNvPicPr preferRelativeResize="0"/>
          <p:nvPr/>
        </p:nvPicPr>
        <p:blipFill rotWithShape="1">
          <a:blip r:embed="rId11">
            <a:alphaModFix/>
          </a:blip>
          <a:srcRect b="0" l="0" r="0" t="0"/>
          <a:stretch/>
        </p:blipFill>
        <p:spPr>
          <a:xfrm>
            <a:off x="7235130" y="4228058"/>
            <a:ext cx="104775" cy="95250"/>
          </a:xfrm>
          <a:prstGeom prst="rect">
            <a:avLst/>
          </a:prstGeom>
          <a:noFill/>
          <a:ln>
            <a:noFill/>
          </a:ln>
        </p:spPr>
      </p:pic>
      <p:pic>
        <p:nvPicPr>
          <p:cNvPr descr="image.png" id="134" name="Google Shape;134;p15"/>
          <p:cNvPicPr preferRelativeResize="0"/>
          <p:nvPr/>
        </p:nvPicPr>
        <p:blipFill rotWithShape="1">
          <a:blip r:embed="rId12">
            <a:alphaModFix/>
          </a:blip>
          <a:srcRect b="0" l="0" r="0" t="0"/>
          <a:stretch/>
        </p:blipFill>
        <p:spPr>
          <a:xfrm>
            <a:off x="723900" y="4000351"/>
            <a:ext cx="171450" cy="180975"/>
          </a:xfrm>
          <a:prstGeom prst="rect">
            <a:avLst/>
          </a:prstGeom>
          <a:noFill/>
          <a:ln>
            <a:noFill/>
          </a:ln>
        </p:spPr>
      </p:pic>
      <p:pic>
        <p:nvPicPr>
          <p:cNvPr descr="image.png" id="135" name="Google Shape;135;p15"/>
          <p:cNvPicPr preferRelativeResize="0"/>
          <p:nvPr/>
        </p:nvPicPr>
        <p:blipFill rotWithShape="1">
          <a:blip r:embed="rId13">
            <a:alphaModFix/>
          </a:blip>
          <a:srcRect b="0" l="0" r="0" t="0"/>
          <a:stretch/>
        </p:blipFill>
        <p:spPr>
          <a:xfrm>
            <a:off x="723900" y="4686151"/>
            <a:ext cx="190500" cy="180975"/>
          </a:xfrm>
          <a:prstGeom prst="rect">
            <a:avLst/>
          </a:prstGeom>
          <a:noFill/>
          <a:ln>
            <a:noFill/>
          </a:ln>
        </p:spPr>
      </p:pic>
      <p:sp>
        <p:nvSpPr>
          <p:cNvPr id="136" name="Google Shape;136;p15"/>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SPECIFICATION DETECT: HARDWARE_EDGE ] IOT PROTECTIVE RADIAN</a:t>
            </a:r>
            <a:endParaRPr/>
          </a:p>
        </p:txBody>
      </p:sp>
      <p:sp>
        <p:nvSpPr>
          <p:cNvPr id="137" name="Google Shape;137;p15"/>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5"/>
          <p:cNvSpPr txBox="1"/>
          <p:nvPr/>
        </p:nvSpPr>
        <p:spPr>
          <a:xfrm>
            <a:off x="723900" y="10382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ARDUINO </a:t>
            </a:r>
            <a:r>
              <a:rPr b="1" i="0" lang="en-US" sz="2550" u="none" cap="none" strike="noStrike">
                <a:solidFill>
                  <a:srgbClr val="38BDF8"/>
                </a:solidFill>
                <a:latin typeface="Orbitron"/>
                <a:ea typeface="Orbitron"/>
                <a:cs typeface="Orbitron"/>
                <a:sym typeface="Orbitron"/>
              </a:rPr>
              <a:t>EDGE HARDENING</a:t>
            </a:r>
            <a:endParaRPr/>
          </a:p>
        </p:txBody>
      </p:sp>
      <p:sp>
        <p:nvSpPr>
          <p:cNvPr id="139" name="Google Shape;139;p15"/>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5"/>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1" name="Google Shape;141;p15"/>
          <p:cNvPicPr preferRelativeResize="0"/>
          <p:nvPr/>
        </p:nvPicPr>
        <p:blipFill rotWithShape="1">
          <a:blip r:embed="rId14">
            <a:alphaModFix/>
          </a:blip>
          <a:srcRect b="0" l="0" r="0" t="0"/>
          <a:stretch/>
        </p:blipFill>
        <p:spPr>
          <a:xfrm>
            <a:off x="7177980" y="2299245"/>
            <a:ext cx="2095500" cy="142875"/>
          </a:xfrm>
          <a:prstGeom prst="rect">
            <a:avLst/>
          </a:prstGeom>
          <a:noFill/>
          <a:ln>
            <a:noFill/>
          </a:ln>
        </p:spPr>
      </p:pic>
      <p:pic>
        <p:nvPicPr>
          <p:cNvPr descr="image.png" id="142" name="Google Shape;142;p15"/>
          <p:cNvPicPr preferRelativeResize="0"/>
          <p:nvPr/>
        </p:nvPicPr>
        <p:blipFill rotWithShape="1">
          <a:blip r:embed="rId15">
            <a:alphaModFix/>
          </a:blip>
          <a:srcRect b="0" l="0" r="0" t="0"/>
          <a:stretch/>
        </p:blipFill>
        <p:spPr>
          <a:xfrm>
            <a:off x="7177980" y="4204245"/>
            <a:ext cx="1924050" cy="142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46" name="Shape 146"/>
        <p:cNvGrpSpPr/>
        <p:nvPr/>
      </p:nvGrpSpPr>
      <p:grpSpPr>
        <a:xfrm>
          <a:off x="0" y="0"/>
          <a:ext cx="0" cy="0"/>
          <a:chOff x="0" y="0"/>
          <a:chExt cx="0" cy="0"/>
        </a:xfrm>
      </p:grpSpPr>
      <p:pic>
        <p:nvPicPr>
          <p:cNvPr descr="image.png" id="147" name="Google Shape;14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8" name="Google Shape;148;p16"/>
          <p:cNvPicPr preferRelativeResize="0"/>
          <p:nvPr/>
        </p:nvPicPr>
        <p:blipFill rotWithShape="1">
          <a:blip r:embed="rId4">
            <a:alphaModFix/>
          </a:blip>
          <a:srcRect b="0" l="0" r="0" t="0"/>
          <a:stretch/>
        </p:blipFill>
        <p:spPr>
          <a:xfrm>
            <a:off x="1798290" y="3478559"/>
            <a:ext cx="8595270" cy="19050"/>
          </a:xfrm>
          <a:prstGeom prst="rect">
            <a:avLst/>
          </a:prstGeom>
          <a:noFill/>
          <a:ln>
            <a:noFill/>
          </a:ln>
        </p:spPr>
      </p:pic>
      <p:pic>
        <p:nvPicPr>
          <p:cNvPr descr="image.png" id="149" name="Google Shape;149;p16"/>
          <p:cNvPicPr preferRelativeResize="0"/>
          <p:nvPr/>
        </p:nvPicPr>
        <p:blipFill rotWithShape="1">
          <a:blip r:embed="rId5">
            <a:alphaModFix/>
          </a:blip>
          <a:srcRect b="0" l="0" r="0" t="0"/>
          <a:stretch/>
        </p:blipFill>
        <p:spPr>
          <a:xfrm>
            <a:off x="1572369" y="3145184"/>
            <a:ext cx="666750" cy="666750"/>
          </a:xfrm>
          <a:prstGeom prst="rect">
            <a:avLst/>
          </a:prstGeom>
          <a:noFill/>
          <a:ln>
            <a:noFill/>
          </a:ln>
        </p:spPr>
      </p:pic>
      <p:sp>
        <p:nvSpPr>
          <p:cNvPr id="150" name="Google Shape;150;p16"/>
          <p:cNvSpPr txBox="1"/>
          <p:nvPr/>
        </p:nvSpPr>
        <p:spPr>
          <a:xfrm>
            <a:off x="1180653" y="4002434"/>
            <a:ext cx="1450181"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Orbitron"/>
                <a:ea typeface="Orbitron"/>
                <a:cs typeface="Orbitron"/>
                <a:sym typeface="Orbitron"/>
              </a:rPr>
              <a:t>1. Edge Intercept</a:t>
            </a:r>
            <a:endParaRPr/>
          </a:p>
        </p:txBody>
      </p:sp>
      <p:sp>
        <p:nvSpPr>
          <p:cNvPr id="151" name="Google Shape;151;p16"/>
          <p:cNvSpPr txBox="1"/>
          <p:nvPr/>
        </p:nvSpPr>
        <p:spPr>
          <a:xfrm>
            <a:off x="723900" y="4288184"/>
            <a:ext cx="2363688"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4A3B8"/>
                </a:solidFill>
                <a:latin typeface="Lato"/>
                <a:ea typeface="Lato"/>
                <a:cs typeface="Lato"/>
                <a:sym typeface="Lato"/>
              </a:rPr>
              <a:t>Arduino nodes process vibration frequency shifts and tilt variables on-site, filtering false ambient reports.</a:t>
            </a:r>
            <a:endParaRPr/>
          </a:p>
        </p:txBody>
      </p:sp>
      <p:pic>
        <p:nvPicPr>
          <p:cNvPr descr="image.png" id="152" name="Google Shape;152;p16"/>
          <p:cNvPicPr preferRelativeResize="0"/>
          <p:nvPr/>
        </p:nvPicPr>
        <p:blipFill rotWithShape="1">
          <a:blip r:embed="rId6">
            <a:alphaModFix/>
          </a:blip>
          <a:srcRect b="0" l="0" r="0" t="0"/>
          <a:stretch/>
        </p:blipFill>
        <p:spPr>
          <a:xfrm>
            <a:off x="4365873" y="3145184"/>
            <a:ext cx="666750" cy="666750"/>
          </a:xfrm>
          <a:prstGeom prst="rect">
            <a:avLst/>
          </a:prstGeom>
          <a:noFill/>
          <a:ln>
            <a:noFill/>
          </a:ln>
        </p:spPr>
      </p:pic>
      <p:sp>
        <p:nvSpPr>
          <p:cNvPr id="153" name="Google Shape;153;p16"/>
          <p:cNvSpPr txBox="1"/>
          <p:nvPr/>
        </p:nvSpPr>
        <p:spPr>
          <a:xfrm>
            <a:off x="3784133" y="4002434"/>
            <a:ext cx="1830228"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Orbitron"/>
                <a:ea typeface="Orbitron"/>
                <a:cs typeface="Orbitron"/>
                <a:sym typeface="Orbitron"/>
              </a:rPr>
              <a:t>2. Encrypted Packet</a:t>
            </a:r>
            <a:endParaRPr/>
          </a:p>
        </p:txBody>
      </p:sp>
      <p:sp>
        <p:nvSpPr>
          <p:cNvPr id="154" name="Google Shape;154;p16"/>
          <p:cNvSpPr txBox="1"/>
          <p:nvPr/>
        </p:nvSpPr>
        <p:spPr>
          <a:xfrm>
            <a:off x="3517403" y="4288184"/>
            <a:ext cx="2363688"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4A3B8"/>
                </a:solidFill>
                <a:latin typeface="Lato"/>
                <a:ea typeface="Lato"/>
                <a:cs typeface="Lato"/>
                <a:sym typeface="Lato"/>
              </a:rPr>
              <a:t>Secured LoRaWAN structures route high-priority coordinate payload through local wireless grid controllers.</a:t>
            </a:r>
            <a:endParaRPr/>
          </a:p>
        </p:txBody>
      </p:sp>
      <p:pic>
        <p:nvPicPr>
          <p:cNvPr descr="image.png" id="155" name="Google Shape;155;p16"/>
          <p:cNvPicPr preferRelativeResize="0"/>
          <p:nvPr/>
        </p:nvPicPr>
        <p:blipFill rotWithShape="1">
          <a:blip r:embed="rId7">
            <a:alphaModFix/>
          </a:blip>
          <a:srcRect b="0" l="0" r="0" t="0"/>
          <a:stretch/>
        </p:blipFill>
        <p:spPr>
          <a:xfrm>
            <a:off x="7159376" y="3145184"/>
            <a:ext cx="666750" cy="666750"/>
          </a:xfrm>
          <a:prstGeom prst="rect">
            <a:avLst/>
          </a:prstGeom>
          <a:noFill/>
          <a:ln>
            <a:noFill/>
          </a:ln>
        </p:spPr>
      </p:pic>
      <p:sp>
        <p:nvSpPr>
          <p:cNvPr id="156" name="Google Shape;156;p16"/>
          <p:cNvSpPr txBox="1"/>
          <p:nvPr/>
        </p:nvSpPr>
        <p:spPr>
          <a:xfrm>
            <a:off x="6822668" y="4002434"/>
            <a:ext cx="1340167"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Orbitron"/>
                <a:ea typeface="Orbitron"/>
                <a:cs typeface="Orbitron"/>
                <a:sym typeface="Orbitron"/>
              </a:rPr>
              <a:t>3. AI Prediction</a:t>
            </a:r>
            <a:endParaRPr/>
          </a:p>
        </p:txBody>
      </p:sp>
      <p:sp>
        <p:nvSpPr>
          <p:cNvPr id="157" name="Google Shape;157;p16"/>
          <p:cNvSpPr txBox="1"/>
          <p:nvPr/>
        </p:nvSpPr>
        <p:spPr>
          <a:xfrm>
            <a:off x="6310907" y="4288184"/>
            <a:ext cx="2363688"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4A3B8"/>
                </a:solidFill>
                <a:latin typeface="Lato"/>
                <a:ea typeface="Lato"/>
                <a:cs typeface="Lato"/>
                <a:sym typeface="Lato"/>
              </a:rPr>
              <a:t>Our secure central cloud database maps alerts against target trends to flag localized systemic sabotage.</a:t>
            </a:r>
            <a:endParaRPr/>
          </a:p>
        </p:txBody>
      </p:sp>
      <p:pic>
        <p:nvPicPr>
          <p:cNvPr descr="image.png" id="158" name="Google Shape;158;p16"/>
          <p:cNvPicPr preferRelativeResize="0"/>
          <p:nvPr/>
        </p:nvPicPr>
        <p:blipFill rotWithShape="1">
          <a:blip r:embed="rId8">
            <a:alphaModFix/>
          </a:blip>
          <a:srcRect b="0" l="0" r="0" t="0"/>
          <a:stretch/>
        </p:blipFill>
        <p:spPr>
          <a:xfrm>
            <a:off x="9952880" y="3145184"/>
            <a:ext cx="666750" cy="666750"/>
          </a:xfrm>
          <a:prstGeom prst="rect">
            <a:avLst/>
          </a:prstGeom>
          <a:noFill/>
          <a:ln>
            <a:noFill/>
          </a:ln>
        </p:spPr>
      </p:pic>
      <p:sp>
        <p:nvSpPr>
          <p:cNvPr id="159" name="Google Shape;159;p16"/>
          <p:cNvSpPr txBox="1"/>
          <p:nvPr/>
        </p:nvSpPr>
        <p:spPr>
          <a:xfrm>
            <a:off x="9416147" y="4002434"/>
            <a:ext cx="1740217"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Orbitron"/>
                <a:ea typeface="Orbitron"/>
                <a:cs typeface="Orbitron"/>
                <a:sym typeface="Orbitron"/>
              </a:rPr>
              <a:t>4. Incident Dispatch</a:t>
            </a:r>
            <a:endParaRPr/>
          </a:p>
        </p:txBody>
      </p:sp>
      <p:sp>
        <p:nvSpPr>
          <p:cNvPr id="160" name="Google Shape;160;p16"/>
          <p:cNvSpPr txBox="1"/>
          <p:nvPr/>
        </p:nvSpPr>
        <p:spPr>
          <a:xfrm>
            <a:off x="9104411" y="4288184"/>
            <a:ext cx="2363688" cy="74652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4A3B8"/>
                </a:solidFill>
                <a:latin typeface="Lato"/>
                <a:ea typeface="Lato"/>
                <a:cs typeface="Lato"/>
                <a:sym typeface="Lato"/>
              </a:rPr>
              <a:t>Direct spatial alerts and secure geographic coordinates route immediately to tactical infrastructure guards.</a:t>
            </a:r>
            <a:endParaRPr/>
          </a:p>
        </p:txBody>
      </p:sp>
      <p:sp>
        <p:nvSpPr>
          <p:cNvPr id="161" name="Google Shape;161;p16"/>
          <p:cNvSpPr/>
          <p:nvPr/>
        </p:nvSpPr>
        <p:spPr>
          <a:xfrm>
            <a:off x="1591419" y="3164234"/>
            <a:ext cx="628650" cy="628650"/>
          </a:xfrm>
          <a:prstGeom prst="roundRect">
            <a:avLst>
              <a:gd fmla="val 18181" name="adj"/>
            </a:avLst>
          </a:prstGeom>
          <a:noFill/>
          <a:ln cap="flat" cmpd="sng" w="9525">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6"/>
          <p:cNvSpPr/>
          <p:nvPr/>
        </p:nvSpPr>
        <p:spPr>
          <a:xfrm>
            <a:off x="4384923" y="3164234"/>
            <a:ext cx="628650" cy="628650"/>
          </a:xfrm>
          <a:prstGeom prst="roundRect">
            <a:avLst>
              <a:gd fmla="val 18181" name="adj"/>
            </a:avLst>
          </a:prstGeom>
          <a:noFill/>
          <a:ln cap="flat" cmpd="sng" w="9525">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3" name="Google Shape;163;p16"/>
          <p:cNvPicPr preferRelativeResize="0"/>
          <p:nvPr/>
        </p:nvPicPr>
        <p:blipFill rotWithShape="1">
          <a:blip r:embed="rId9">
            <a:alphaModFix/>
          </a:blip>
          <a:srcRect b="0" l="0" r="0" t="0"/>
          <a:stretch/>
        </p:blipFill>
        <p:spPr>
          <a:xfrm>
            <a:off x="4584948" y="3364259"/>
            <a:ext cx="228600" cy="228600"/>
          </a:xfrm>
          <a:prstGeom prst="rect">
            <a:avLst/>
          </a:prstGeom>
          <a:noFill/>
          <a:ln>
            <a:noFill/>
          </a:ln>
        </p:spPr>
      </p:pic>
      <p:sp>
        <p:nvSpPr>
          <p:cNvPr id="164" name="Google Shape;164;p16"/>
          <p:cNvSpPr/>
          <p:nvPr/>
        </p:nvSpPr>
        <p:spPr>
          <a:xfrm>
            <a:off x="7178426" y="3164234"/>
            <a:ext cx="628650" cy="628650"/>
          </a:xfrm>
          <a:prstGeom prst="roundRect">
            <a:avLst>
              <a:gd fmla="val 18181" name="adj"/>
            </a:avLst>
          </a:prstGeom>
          <a:noFill/>
          <a:ln cap="flat" cmpd="sng" w="9525">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6"/>
          <p:cNvSpPr/>
          <p:nvPr/>
        </p:nvSpPr>
        <p:spPr>
          <a:xfrm>
            <a:off x="9971930" y="3164234"/>
            <a:ext cx="628650" cy="628650"/>
          </a:xfrm>
          <a:prstGeom prst="roundRect">
            <a:avLst>
              <a:gd fmla="val 18181" name="adj"/>
            </a:avLst>
          </a:prstGeom>
          <a:noFill/>
          <a:ln cap="flat" cmpd="sng" w="9525">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6" name="Google Shape;166;p16"/>
          <p:cNvPicPr preferRelativeResize="0"/>
          <p:nvPr/>
        </p:nvPicPr>
        <p:blipFill rotWithShape="1">
          <a:blip r:embed="rId10">
            <a:alphaModFix/>
          </a:blip>
          <a:srcRect b="0" l="0" r="0" t="0"/>
          <a:stretch/>
        </p:blipFill>
        <p:spPr>
          <a:xfrm>
            <a:off x="10143380" y="3364259"/>
            <a:ext cx="285750" cy="228600"/>
          </a:xfrm>
          <a:prstGeom prst="rect">
            <a:avLst/>
          </a:prstGeom>
          <a:noFill/>
          <a:ln>
            <a:noFill/>
          </a:ln>
        </p:spPr>
      </p:pic>
      <p:sp>
        <p:nvSpPr>
          <p:cNvPr id="167" name="Google Shape;167;p16"/>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SYSTEM ARCHITECTURE: SIGNAL_ROUTE ] INCIDENT INGESTION FLOW</a:t>
            </a:r>
            <a:endParaRPr/>
          </a:p>
        </p:txBody>
      </p:sp>
      <p:sp>
        <p:nvSpPr>
          <p:cNvPr id="168" name="Google Shape;168;p16"/>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6"/>
          <p:cNvSpPr txBox="1"/>
          <p:nvPr/>
        </p:nvSpPr>
        <p:spPr>
          <a:xfrm>
            <a:off x="723900" y="10382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THE SECURE </a:t>
            </a:r>
            <a:r>
              <a:rPr b="1" i="0" lang="en-US" sz="2550" u="none" cap="none" strike="noStrike">
                <a:solidFill>
                  <a:srgbClr val="38BDF8"/>
                </a:solidFill>
                <a:latin typeface="Orbitron"/>
                <a:ea typeface="Orbitron"/>
                <a:cs typeface="Orbitron"/>
                <a:sym typeface="Orbitron"/>
              </a:rPr>
              <a:t>DATA FLOW MATRIX</a:t>
            </a:r>
            <a:endParaRPr/>
          </a:p>
        </p:txBody>
      </p:sp>
      <p:sp>
        <p:nvSpPr>
          <p:cNvPr id="170" name="Google Shape;170;p16"/>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6"/>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175" name="Shape 175"/>
        <p:cNvGrpSpPr/>
        <p:nvPr/>
      </p:nvGrpSpPr>
      <p:grpSpPr>
        <a:xfrm>
          <a:off x="0" y="0"/>
          <a:ext cx="0" cy="0"/>
          <a:chOff x="0" y="0"/>
          <a:chExt cx="0" cy="0"/>
        </a:xfrm>
      </p:grpSpPr>
      <p:pic>
        <p:nvPicPr>
          <p:cNvPr descr="image.png" id="176" name="Google Shape;17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7" name="Google Shape;177;p17"/>
          <p:cNvPicPr preferRelativeResize="0"/>
          <p:nvPr/>
        </p:nvPicPr>
        <p:blipFill rotWithShape="1">
          <a:blip r:embed="rId4">
            <a:alphaModFix/>
          </a:blip>
          <a:srcRect b="0" l="0" r="0" t="0"/>
          <a:stretch/>
        </p:blipFill>
        <p:spPr>
          <a:xfrm>
            <a:off x="723900" y="2432595"/>
            <a:ext cx="5257800" cy="1447800"/>
          </a:xfrm>
          <a:prstGeom prst="rect">
            <a:avLst/>
          </a:prstGeom>
          <a:noFill/>
          <a:ln>
            <a:noFill/>
          </a:ln>
        </p:spPr>
      </p:pic>
      <p:pic>
        <p:nvPicPr>
          <p:cNvPr descr="image.png" id="178" name="Google Shape;178;p17"/>
          <p:cNvPicPr preferRelativeResize="0"/>
          <p:nvPr/>
        </p:nvPicPr>
        <p:blipFill rotWithShape="1">
          <a:blip r:embed="rId5">
            <a:alphaModFix/>
          </a:blip>
          <a:srcRect b="0" l="0" r="0" t="0"/>
          <a:stretch/>
        </p:blipFill>
        <p:spPr>
          <a:xfrm>
            <a:off x="6210300" y="2432595"/>
            <a:ext cx="5257800" cy="1447800"/>
          </a:xfrm>
          <a:prstGeom prst="rect">
            <a:avLst/>
          </a:prstGeom>
          <a:noFill/>
          <a:ln>
            <a:noFill/>
          </a:ln>
        </p:spPr>
      </p:pic>
      <p:pic>
        <p:nvPicPr>
          <p:cNvPr descr="image.png" id="179" name="Google Shape;179;p17"/>
          <p:cNvPicPr preferRelativeResize="0"/>
          <p:nvPr/>
        </p:nvPicPr>
        <p:blipFill rotWithShape="1">
          <a:blip r:embed="rId4">
            <a:alphaModFix/>
          </a:blip>
          <a:srcRect b="0" l="0" r="0" t="0"/>
          <a:stretch/>
        </p:blipFill>
        <p:spPr>
          <a:xfrm>
            <a:off x="723900" y="4108995"/>
            <a:ext cx="5257800" cy="1447800"/>
          </a:xfrm>
          <a:prstGeom prst="rect">
            <a:avLst/>
          </a:prstGeom>
          <a:noFill/>
          <a:ln>
            <a:noFill/>
          </a:ln>
        </p:spPr>
      </p:pic>
      <p:pic>
        <p:nvPicPr>
          <p:cNvPr descr="image.png" id="180" name="Google Shape;180;p17"/>
          <p:cNvPicPr preferRelativeResize="0"/>
          <p:nvPr/>
        </p:nvPicPr>
        <p:blipFill rotWithShape="1">
          <a:blip r:embed="rId5">
            <a:alphaModFix/>
          </a:blip>
          <a:srcRect b="0" l="0" r="0" t="0"/>
          <a:stretch/>
        </p:blipFill>
        <p:spPr>
          <a:xfrm>
            <a:off x="6210300" y="4108995"/>
            <a:ext cx="5257800" cy="1447800"/>
          </a:xfrm>
          <a:prstGeom prst="rect">
            <a:avLst/>
          </a:prstGeom>
          <a:noFill/>
          <a:ln>
            <a:noFill/>
          </a:ln>
        </p:spPr>
      </p:pic>
      <p:pic>
        <p:nvPicPr>
          <p:cNvPr descr="image.png" id="181" name="Google Shape;181;p17"/>
          <p:cNvPicPr preferRelativeResize="0"/>
          <p:nvPr/>
        </p:nvPicPr>
        <p:blipFill rotWithShape="1">
          <a:blip r:embed="rId6">
            <a:alphaModFix/>
          </a:blip>
          <a:srcRect b="0" l="0" r="0" t="0"/>
          <a:stretch/>
        </p:blipFill>
        <p:spPr>
          <a:xfrm>
            <a:off x="962025" y="2670720"/>
            <a:ext cx="476250" cy="476250"/>
          </a:xfrm>
          <a:prstGeom prst="rect">
            <a:avLst/>
          </a:prstGeom>
          <a:noFill/>
          <a:ln>
            <a:noFill/>
          </a:ln>
        </p:spPr>
      </p:pic>
      <p:pic>
        <p:nvPicPr>
          <p:cNvPr descr="image.png" id="182" name="Google Shape;182;p17"/>
          <p:cNvPicPr preferRelativeResize="0"/>
          <p:nvPr/>
        </p:nvPicPr>
        <p:blipFill rotWithShape="1">
          <a:blip r:embed="rId6">
            <a:alphaModFix/>
          </a:blip>
          <a:srcRect b="0" l="0" r="0" t="0"/>
          <a:stretch/>
        </p:blipFill>
        <p:spPr>
          <a:xfrm>
            <a:off x="6448425" y="2670720"/>
            <a:ext cx="476250" cy="476250"/>
          </a:xfrm>
          <a:prstGeom prst="rect">
            <a:avLst/>
          </a:prstGeom>
          <a:noFill/>
          <a:ln>
            <a:noFill/>
          </a:ln>
        </p:spPr>
      </p:pic>
      <p:pic>
        <p:nvPicPr>
          <p:cNvPr descr="image.png" id="183" name="Google Shape;183;p17"/>
          <p:cNvPicPr preferRelativeResize="0"/>
          <p:nvPr/>
        </p:nvPicPr>
        <p:blipFill rotWithShape="1">
          <a:blip r:embed="rId6">
            <a:alphaModFix/>
          </a:blip>
          <a:srcRect b="0" l="0" r="0" t="0"/>
          <a:stretch/>
        </p:blipFill>
        <p:spPr>
          <a:xfrm>
            <a:off x="962025" y="4347120"/>
            <a:ext cx="476250" cy="476250"/>
          </a:xfrm>
          <a:prstGeom prst="rect">
            <a:avLst/>
          </a:prstGeom>
          <a:noFill/>
          <a:ln>
            <a:noFill/>
          </a:ln>
        </p:spPr>
      </p:pic>
      <p:pic>
        <p:nvPicPr>
          <p:cNvPr descr="image.png" id="184" name="Google Shape;184;p17"/>
          <p:cNvPicPr preferRelativeResize="0"/>
          <p:nvPr/>
        </p:nvPicPr>
        <p:blipFill rotWithShape="1">
          <a:blip r:embed="rId6">
            <a:alphaModFix/>
          </a:blip>
          <a:srcRect b="0" l="0" r="0" t="0"/>
          <a:stretch/>
        </p:blipFill>
        <p:spPr>
          <a:xfrm>
            <a:off x="6448425" y="4347120"/>
            <a:ext cx="476250" cy="476250"/>
          </a:xfrm>
          <a:prstGeom prst="rect">
            <a:avLst/>
          </a:prstGeom>
          <a:noFill/>
          <a:ln>
            <a:noFill/>
          </a:ln>
        </p:spPr>
      </p:pic>
      <p:pic>
        <p:nvPicPr>
          <p:cNvPr descr="image.png" id="185" name="Google Shape;185;p17"/>
          <p:cNvPicPr preferRelativeResize="0"/>
          <p:nvPr/>
        </p:nvPicPr>
        <p:blipFill rotWithShape="1">
          <a:blip r:embed="rId7">
            <a:alphaModFix/>
          </a:blip>
          <a:srcRect b="0" l="0" r="0" t="0"/>
          <a:stretch/>
        </p:blipFill>
        <p:spPr>
          <a:xfrm>
            <a:off x="1104900" y="2813595"/>
            <a:ext cx="190500" cy="190500"/>
          </a:xfrm>
          <a:prstGeom prst="rect">
            <a:avLst/>
          </a:prstGeom>
          <a:noFill/>
          <a:ln>
            <a:noFill/>
          </a:ln>
        </p:spPr>
      </p:pic>
      <p:sp>
        <p:nvSpPr>
          <p:cNvPr id="186" name="Google Shape;186;p17"/>
          <p:cNvSpPr txBox="1"/>
          <p:nvPr/>
        </p:nvSpPr>
        <p:spPr>
          <a:xfrm>
            <a:off x="1628775" y="2670720"/>
            <a:ext cx="432054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FFFFFF"/>
                </a:solidFill>
                <a:latin typeface="Orbitron"/>
                <a:ea typeface="Orbitron"/>
                <a:cs typeface="Orbitron"/>
                <a:sym typeface="Orbitron"/>
              </a:rPr>
              <a:t>IOT HARDWARE NODES</a:t>
            </a:r>
            <a:endParaRPr/>
          </a:p>
        </p:txBody>
      </p:sp>
      <p:sp>
        <p:nvSpPr>
          <p:cNvPr id="187" name="Google Shape;187;p17"/>
          <p:cNvSpPr txBox="1"/>
          <p:nvPr/>
        </p:nvSpPr>
        <p:spPr>
          <a:xfrm>
            <a:off x="1628775" y="2956470"/>
            <a:ext cx="4114800"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Low-power, solid-state modular edge systems built for long-term field durability in harsh South African environments.</a:t>
            </a:r>
            <a:endParaRPr/>
          </a:p>
        </p:txBody>
      </p:sp>
      <p:pic>
        <p:nvPicPr>
          <p:cNvPr descr="image.png" id="188" name="Google Shape;188;p17"/>
          <p:cNvPicPr preferRelativeResize="0"/>
          <p:nvPr/>
        </p:nvPicPr>
        <p:blipFill rotWithShape="1">
          <a:blip r:embed="rId8">
            <a:alphaModFix/>
          </a:blip>
          <a:srcRect b="0" l="0" r="0" t="0"/>
          <a:stretch/>
        </p:blipFill>
        <p:spPr>
          <a:xfrm>
            <a:off x="6591300" y="2813595"/>
            <a:ext cx="190500" cy="190500"/>
          </a:xfrm>
          <a:prstGeom prst="rect">
            <a:avLst/>
          </a:prstGeom>
          <a:noFill/>
          <a:ln>
            <a:noFill/>
          </a:ln>
        </p:spPr>
      </p:pic>
      <p:sp>
        <p:nvSpPr>
          <p:cNvPr id="189" name="Google Shape;189;p17"/>
          <p:cNvSpPr txBox="1"/>
          <p:nvPr/>
        </p:nvSpPr>
        <p:spPr>
          <a:xfrm>
            <a:off x="7115175" y="2670720"/>
            <a:ext cx="432054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FFFFFF"/>
                </a:solidFill>
                <a:latin typeface="Orbitron"/>
                <a:ea typeface="Orbitron"/>
                <a:cs typeface="Orbitron"/>
                <a:sym typeface="Orbitron"/>
              </a:rPr>
              <a:t>SECURE BACKEND</a:t>
            </a:r>
            <a:endParaRPr/>
          </a:p>
        </p:txBody>
      </p:sp>
      <p:sp>
        <p:nvSpPr>
          <p:cNvPr id="190" name="Google Shape;190;p17"/>
          <p:cNvSpPr txBox="1"/>
          <p:nvPr/>
        </p:nvSpPr>
        <p:spPr>
          <a:xfrm>
            <a:off x="7115175" y="2956470"/>
            <a:ext cx="4114800"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Enterprise-scale API endpoints designed for rapid sub-second payload parsing, secure hashing, and real-time alerts processing.</a:t>
            </a:r>
            <a:endParaRPr/>
          </a:p>
        </p:txBody>
      </p:sp>
      <p:pic>
        <p:nvPicPr>
          <p:cNvPr descr="image.png" id="191" name="Google Shape;191;p17"/>
          <p:cNvPicPr preferRelativeResize="0"/>
          <p:nvPr/>
        </p:nvPicPr>
        <p:blipFill rotWithShape="1">
          <a:blip r:embed="rId9">
            <a:alphaModFix/>
          </a:blip>
          <a:srcRect b="0" l="0" r="0" t="0"/>
          <a:stretch/>
        </p:blipFill>
        <p:spPr>
          <a:xfrm>
            <a:off x="1090612" y="4489995"/>
            <a:ext cx="219075" cy="190500"/>
          </a:xfrm>
          <a:prstGeom prst="rect">
            <a:avLst/>
          </a:prstGeom>
          <a:noFill/>
          <a:ln>
            <a:noFill/>
          </a:ln>
        </p:spPr>
      </p:pic>
      <p:sp>
        <p:nvSpPr>
          <p:cNvPr id="192" name="Google Shape;192;p17"/>
          <p:cNvSpPr txBox="1"/>
          <p:nvPr/>
        </p:nvSpPr>
        <p:spPr>
          <a:xfrm>
            <a:off x="1628775" y="4347120"/>
            <a:ext cx="432054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FFFFFF"/>
                </a:solidFill>
                <a:latin typeface="Orbitron"/>
                <a:ea typeface="Orbitron"/>
                <a:cs typeface="Orbitron"/>
                <a:sym typeface="Orbitron"/>
              </a:rPr>
              <a:t>OPERATIONAL FRONTEND</a:t>
            </a:r>
            <a:endParaRPr/>
          </a:p>
        </p:txBody>
      </p:sp>
      <p:sp>
        <p:nvSpPr>
          <p:cNvPr id="193" name="Google Shape;193;p17"/>
          <p:cNvSpPr txBox="1"/>
          <p:nvPr/>
        </p:nvSpPr>
        <p:spPr>
          <a:xfrm>
            <a:off x="1628775" y="4632870"/>
            <a:ext cx="4114800"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High-contrast, low-latency administrative interface highlighting current target threat indicators and node health metrics.</a:t>
            </a:r>
            <a:endParaRPr/>
          </a:p>
        </p:txBody>
      </p:sp>
      <p:pic>
        <p:nvPicPr>
          <p:cNvPr descr="image.png" id="194" name="Google Shape;194;p17"/>
          <p:cNvPicPr preferRelativeResize="0"/>
          <p:nvPr/>
        </p:nvPicPr>
        <p:blipFill rotWithShape="1">
          <a:blip r:embed="rId10">
            <a:alphaModFix/>
          </a:blip>
          <a:srcRect b="0" l="0" r="0" t="0"/>
          <a:stretch/>
        </p:blipFill>
        <p:spPr>
          <a:xfrm>
            <a:off x="6591300" y="4489995"/>
            <a:ext cx="190500" cy="190500"/>
          </a:xfrm>
          <a:prstGeom prst="rect">
            <a:avLst/>
          </a:prstGeom>
          <a:noFill/>
          <a:ln>
            <a:noFill/>
          </a:ln>
        </p:spPr>
      </p:pic>
      <p:sp>
        <p:nvSpPr>
          <p:cNvPr id="195" name="Google Shape;195;p17"/>
          <p:cNvSpPr txBox="1"/>
          <p:nvPr/>
        </p:nvSpPr>
        <p:spPr>
          <a:xfrm>
            <a:off x="7115175" y="4347120"/>
            <a:ext cx="432054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FFFFFF"/>
                </a:solidFill>
                <a:latin typeface="Orbitron"/>
                <a:ea typeface="Orbitron"/>
                <a:cs typeface="Orbitron"/>
                <a:sym typeface="Orbitron"/>
              </a:rPr>
              <a:t>AI PREDICTIVE CORE</a:t>
            </a:r>
            <a:endParaRPr/>
          </a:p>
        </p:txBody>
      </p:sp>
      <p:sp>
        <p:nvSpPr>
          <p:cNvPr id="196" name="Google Shape;196;p17"/>
          <p:cNvSpPr txBox="1"/>
          <p:nvPr/>
        </p:nvSpPr>
        <p:spPr>
          <a:xfrm>
            <a:off x="7115175" y="4632870"/>
            <a:ext cx="4114800"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Machine Learning engine modeling structural attack patterns and localized risk probabilities to dynamically dispatch guards.</a:t>
            </a:r>
            <a:endParaRPr/>
          </a:p>
        </p:txBody>
      </p:sp>
      <p:pic>
        <p:nvPicPr>
          <p:cNvPr descr="image.png" id="197" name="Google Shape;197;p17"/>
          <p:cNvPicPr preferRelativeResize="0"/>
          <p:nvPr/>
        </p:nvPicPr>
        <p:blipFill rotWithShape="1">
          <a:blip r:embed="rId11">
            <a:alphaModFix/>
          </a:blip>
          <a:srcRect b="0" l="0" r="0" t="0"/>
          <a:stretch/>
        </p:blipFill>
        <p:spPr>
          <a:xfrm>
            <a:off x="1628775" y="3451770"/>
            <a:ext cx="800100" cy="190500"/>
          </a:xfrm>
          <a:prstGeom prst="rect">
            <a:avLst/>
          </a:prstGeom>
          <a:noFill/>
          <a:ln>
            <a:noFill/>
          </a:ln>
        </p:spPr>
      </p:pic>
      <p:pic>
        <p:nvPicPr>
          <p:cNvPr descr="image.png" id="198" name="Google Shape;198;p17"/>
          <p:cNvPicPr preferRelativeResize="0"/>
          <p:nvPr/>
        </p:nvPicPr>
        <p:blipFill rotWithShape="1">
          <a:blip r:embed="rId12">
            <a:alphaModFix/>
          </a:blip>
          <a:srcRect b="0" l="0" r="0" t="0"/>
          <a:stretch/>
        </p:blipFill>
        <p:spPr>
          <a:xfrm>
            <a:off x="2505075" y="3451770"/>
            <a:ext cx="1143000" cy="190500"/>
          </a:xfrm>
          <a:prstGeom prst="rect">
            <a:avLst/>
          </a:prstGeom>
          <a:noFill/>
          <a:ln>
            <a:noFill/>
          </a:ln>
        </p:spPr>
      </p:pic>
      <p:pic>
        <p:nvPicPr>
          <p:cNvPr descr="image.png" id="199" name="Google Shape;199;p17"/>
          <p:cNvPicPr preferRelativeResize="0"/>
          <p:nvPr/>
        </p:nvPicPr>
        <p:blipFill rotWithShape="1">
          <a:blip r:embed="rId13">
            <a:alphaModFix/>
          </a:blip>
          <a:srcRect b="0" l="0" r="0" t="0"/>
          <a:stretch/>
        </p:blipFill>
        <p:spPr>
          <a:xfrm>
            <a:off x="3724275" y="3451770"/>
            <a:ext cx="1085850" cy="190500"/>
          </a:xfrm>
          <a:prstGeom prst="rect">
            <a:avLst/>
          </a:prstGeom>
          <a:noFill/>
          <a:ln>
            <a:noFill/>
          </a:ln>
        </p:spPr>
      </p:pic>
      <p:pic>
        <p:nvPicPr>
          <p:cNvPr descr="image.png" id="200" name="Google Shape;200;p17"/>
          <p:cNvPicPr preferRelativeResize="0"/>
          <p:nvPr/>
        </p:nvPicPr>
        <p:blipFill rotWithShape="1">
          <a:blip r:embed="rId14">
            <a:alphaModFix/>
          </a:blip>
          <a:srcRect b="0" l="0" r="0" t="0"/>
          <a:stretch/>
        </p:blipFill>
        <p:spPr>
          <a:xfrm>
            <a:off x="7115175" y="3451770"/>
            <a:ext cx="571500" cy="190500"/>
          </a:xfrm>
          <a:prstGeom prst="rect">
            <a:avLst/>
          </a:prstGeom>
          <a:noFill/>
          <a:ln>
            <a:noFill/>
          </a:ln>
        </p:spPr>
      </p:pic>
      <p:pic>
        <p:nvPicPr>
          <p:cNvPr descr="image.png" id="201" name="Google Shape;201;p17"/>
          <p:cNvPicPr preferRelativeResize="0"/>
          <p:nvPr/>
        </p:nvPicPr>
        <p:blipFill rotWithShape="1">
          <a:blip r:embed="rId15">
            <a:alphaModFix/>
          </a:blip>
          <a:srcRect b="0" l="0" r="0" t="0"/>
          <a:stretch/>
        </p:blipFill>
        <p:spPr>
          <a:xfrm>
            <a:off x="7762875" y="3451770"/>
            <a:ext cx="800100" cy="190500"/>
          </a:xfrm>
          <a:prstGeom prst="rect">
            <a:avLst/>
          </a:prstGeom>
          <a:noFill/>
          <a:ln>
            <a:noFill/>
          </a:ln>
        </p:spPr>
      </p:pic>
      <p:pic>
        <p:nvPicPr>
          <p:cNvPr descr="image.png" id="202" name="Google Shape;202;p17"/>
          <p:cNvPicPr preferRelativeResize="0"/>
          <p:nvPr/>
        </p:nvPicPr>
        <p:blipFill rotWithShape="1">
          <a:blip r:embed="rId16">
            <a:alphaModFix/>
          </a:blip>
          <a:srcRect b="0" l="0" r="0" t="0"/>
          <a:stretch/>
        </p:blipFill>
        <p:spPr>
          <a:xfrm>
            <a:off x="8639175" y="3451770"/>
            <a:ext cx="914400" cy="190500"/>
          </a:xfrm>
          <a:prstGeom prst="rect">
            <a:avLst/>
          </a:prstGeom>
          <a:noFill/>
          <a:ln>
            <a:noFill/>
          </a:ln>
        </p:spPr>
      </p:pic>
      <p:pic>
        <p:nvPicPr>
          <p:cNvPr descr="image.png" id="203" name="Google Shape;203;p17"/>
          <p:cNvPicPr preferRelativeResize="0"/>
          <p:nvPr/>
        </p:nvPicPr>
        <p:blipFill rotWithShape="1">
          <a:blip r:embed="rId17">
            <a:alphaModFix/>
          </a:blip>
          <a:srcRect b="0" l="0" r="0" t="0"/>
          <a:stretch/>
        </p:blipFill>
        <p:spPr>
          <a:xfrm>
            <a:off x="1628775" y="5128170"/>
            <a:ext cx="628650" cy="190500"/>
          </a:xfrm>
          <a:prstGeom prst="rect">
            <a:avLst/>
          </a:prstGeom>
          <a:noFill/>
          <a:ln>
            <a:noFill/>
          </a:ln>
        </p:spPr>
      </p:pic>
      <p:pic>
        <p:nvPicPr>
          <p:cNvPr descr="image.png" id="204" name="Google Shape;204;p17"/>
          <p:cNvPicPr preferRelativeResize="0"/>
          <p:nvPr/>
        </p:nvPicPr>
        <p:blipFill rotWithShape="1">
          <a:blip r:embed="rId18">
            <a:alphaModFix/>
          </a:blip>
          <a:srcRect b="0" l="0" r="0" t="0"/>
          <a:stretch/>
        </p:blipFill>
        <p:spPr>
          <a:xfrm>
            <a:off x="2333625" y="5128170"/>
            <a:ext cx="857250" cy="190500"/>
          </a:xfrm>
          <a:prstGeom prst="rect">
            <a:avLst/>
          </a:prstGeom>
          <a:noFill/>
          <a:ln>
            <a:noFill/>
          </a:ln>
        </p:spPr>
      </p:pic>
      <p:pic>
        <p:nvPicPr>
          <p:cNvPr descr="image.png" id="205" name="Google Shape;205;p17"/>
          <p:cNvPicPr preferRelativeResize="0"/>
          <p:nvPr/>
        </p:nvPicPr>
        <p:blipFill rotWithShape="1">
          <a:blip r:embed="rId19">
            <a:alphaModFix/>
          </a:blip>
          <a:srcRect b="0" l="0" r="0" t="0"/>
          <a:stretch/>
        </p:blipFill>
        <p:spPr>
          <a:xfrm>
            <a:off x="3267075" y="5128170"/>
            <a:ext cx="971550" cy="190500"/>
          </a:xfrm>
          <a:prstGeom prst="rect">
            <a:avLst/>
          </a:prstGeom>
          <a:noFill/>
          <a:ln>
            <a:noFill/>
          </a:ln>
        </p:spPr>
      </p:pic>
      <p:pic>
        <p:nvPicPr>
          <p:cNvPr descr="image.png" id="206" name="Google Shape;206;p17"/>
          <p:cNvPicPr preferRelativeResize="0"/>
          <p:nvPr/>
        </p:nvPicPr>
        <p:blipFill rotWithShape="1">
          <a:blip r:embed="rId20">
            <a:alphaModFix/>
          </a:blip>
          <a:srcRect b="0" l="0" r="0" t="0"/>
          <a:stretch/>
        </p:blipFill>
        <p:spPr>
          <a:xfrm>
            <a:off x="7115175" y="5128170"/>
            <a:ext cx="1143000" cy="190500"/>
          </a:xfrm>
          <a:prstGeom prst="rect">
            <a:avLst/>
          </a:prstGeom>
          <a:noFill/>
          <a:ln>
            <a:noFill/>
          </a:ln>
        </p:spPr>
      </p:pic>
      <p:pic>
        <p:nvPicPr>
          <p:cNvPr descr="image.png" id="207" name="Google Shape;207;p17"/>
          <p:cNvPicPr preferRelativeResize="0"/>
          <p:nvPr/>
        </p:nvPicPr>
        <p:blipFill rotWithShape="1">
          <a:blip r:embed="rId21">
            <a:alphaModFix/>
          </a:blip>
          <a:srcRect b="0" l="0" r="0" t="0"/>
          <a:stretch/>
        </p:blipFill>
        <p:spPr>
          <a:xfrm>
            <a:off x="8334375" y="5128170"/>
            <a:ext cx="1028700" cy="190500"/>
          </a:xfrm>
          <a:prstGeom prst="rect">
            <a:avLst/>
          </a:prstGeom>
          <a:noFill/>
          <a:ln>
            <a:noFill/>
          </a:ln>
        </p:spPr>
      </p:pic>
      <p:pic>
        <p:nvPicPr>
          <p:cNvPr descr="image.png" id="208" name="Google Shape;208;p17"/>
          <p:cNvPicPr preferRelativeResize="0"/>
          <p:nvPr/>
        </p:nvPicPr>
        <p:blipFill rotWithShape="1">
          <a:blip r:embed="rId22">
            <a:alphaModFix/>
          </a:blip>
          <a:srcRect b="0" l="0" r="0" t="0"/>
          <a:stretch/>
        </p:blipFill>
        <p:spPr>
          <a:xfrm>
            <a:off x="9439275" y="5128170"/>
            <a:ext cx="971550" cy="190500"/>
          </a:xfrm>
          <a:prstGeom prst="rect">
            <a:avLst/>
          </a:prstGeom>
          <a:noFill/>
          <a:ln>
            <a:noFill/>
          </a:ln>
        </p:spPr>
      </p:pic>
      <p:sp>
        <p:nvSpPr>
          <p:cNvPr id="209" name="Google Shape;209;p17"/>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SYSTEM SPEC: SOFTWARE_HARDWARE_INTEGRATION ] SENTINEL_AI_STACK_VERSION_2.5</a:t>
            </a:r>
            <a:endParaRPr/>
          </a:p>
        </p:txBody>
      </p:sp>
      <p:sp>
        <p:nvSpPr>
          <p:cNvPr id="210" name="Google Shape;210;p17"/>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7"/>
          <p:cNvSpPr txBox="1"/>
          <p:nvPr/>
        </p:nvSpPr>
        <p:spPr>
          <a:xfrm>
            <a:off x="723900" y="10382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TECHNOLOGY </a:t>
            </a:r>
            <a:r>
              <a:rPr b="1" i="0" lang="en-US" sz="2550" u="none" cap="none" strike="noStrike">
                <a:solidFill>
                  <a:srgbClr val="38BDF8"/>
                </a:solidFill>
                <a:latin typeface="Orbitron"/>
                <a:ea typeface="Orbitron"/>
                <a:cs typeface="Orbitron"/>
                <a:sym typeface="Orbitron"/>
              </a:rPr>
              <a:t>INTEGRATION STACK</a:t>
            </a:r>
            <a:endParaRPr/>
          </a:p>
        </p:txBody>
      </p:sp>
      <p:sp>
        <p:nvSpPr>
          <p:cNvPr id="212" name="Google Shape;212;p17"/>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7"/>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17" name="Shape 217"/>
        <p:cNvGrpSpPr/>
        <p:nvPr/>
      </p:nvGrpSpPr>
      <p:grpSpPr>
        <a:xfrm>
          <a:off x="0" y="0"/>
          <a:ext cx="0" cy="0"/>
          <a:chOff x="0" y="0"/>
          <a:chExt cx="0" cy="0"/>
        </a:xfrm>
      </p:grpSpPr>
      <p:pic>
        <p:nvPicPr>
          <p:cNvPr descr="image.png" id="218" name="Google Shape;218;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9" name="Google Shape;219;p18"/>
          <p:cNvPicPr preferRelativeResize="0"/>
          <p:nvPr/>
        </p:nvPicPr>
        <p:blipFill rotWithShape="1">
          <a:blip r:embed="rId4">
            <a:alphaModFix/>
          </a:blip>
          <a:srcRect b="0" l="0" r="0" t="0"/>
          <a:stretch/>
        </p:blipFill>
        <p:spPr>
          <a:xfrm>
            <a:off x="6804570" y="2184945"/>
            <a:ext cx="4663529" cy="3619500"/>
          </a:xfrm>
          <a:prstGeom prst="rect">
            <a:avLst/>
          </a:prstGeom>
          <a:noFill/>
          <a:ln>
            <a:noFill/>
          </a:ln>
        </p:spPr>
      </p:pic>
      <p:pic>
        <p:nvPicPr>
          <p:cNvPr descr="image.png" id="220" name="Google Shape;220;p18"/>
          <p:cNvPicPr preferRelativeResize="0"/>
          <p:nvPr/>
        </p:nvPicPr>
        <p:blipFill rotWithShape="1">
          <a:blip r:embed="rId5">
            <a:alphaModFix/>
          </a:blip>
          <a:srcRect b="0" l="0" r="0" t="0"/>
          <a:stretch/>
        </p:blipFill>
        <p:spPr>
          <a:xfrm>
            <a:off x="6823620" y="2203995"/>
            <a:ext cx="4625429" cy="3581400"/>
          </a:xfrm>
          <a:prstGeom prst="rect">
            <a:avLst/>
          </a:prstGeom>
          <a:noFill/>
          <a:ln>
            <a:noFill/>
          </a:ln>
        </p:spPr>
      </p:pic>
      <p:pic>
        <p:nvPicPr>
          <p:cNvPr descr="image.png" id="221" name="Google Shape;221;p18"/>
          <p:cNvPicPr preferRelativeResize="0"/>
          <p:nvPr/>
        </p:nvPicPr>
        <p:blipFill rotWithShape="1">
          <a:blip r:embed="rId6">
            <a:alphaModFix/>
          </a:blip>
          <a:srcRect b="0" l="0" r="0" t="0"/>
          <a:stretch/>
        </p:blipFill>
        <p:spPr>
          <a:xfrm>
            <a:off x="10329862" y="2280195"/>
            <a:ext cx="1042987" cy="200025"/>
          </a:xfrm>
          <a:prstGeom prst="rect">
            <a:avLst/>
          </a:prstGeom>
          <a:noFill/>
          <a:ln>
            <a:noFill/>
          </a:ln>
        </p:spPr>
      </p:pic>
      <p:sp>
        <p:nvSpPr>
          <p:cNvPr id="222" name="Google Shape;222;p18"/>
          <p:cNvSpPr txBox="1"/>
          <p:nvPr/>
        </p:nvSpPr>
        <p:spPr>
          <a:xfrm>
            <a:off x="723900" y="2841277"/>
            <a:ext cx="5984654"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FFFFF"/>
                </a:solidFill>
                <a:latin typeface="Orbitron"/>
                <a:ea typeface="Orbitron"/>
                <a:cs typeface="Orbitron"/>
                <a:sym typeface="Orbitron"/>
              </a:rPr>
              <a:t>Target Map &amp; Operator Hub</a:t>
            </a:r>
            <a:endParaRPr/>
          </a:p>
        </p:txBody>
      </p:sp>
      <p:sp>
        <p:nvSpPr>
          <p:cNvPr id="223" name="Google Shape;223;p18"/>
          <p:cNvSpPr txBox="1"/>
          <p:nvPr/>
        </p:nvSpPr>
        <p:spPr>
          <a:xfrm>
            <a:off x="723900" y="3241327"/>
            <a:ext cx="569967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Lato"/>
                <a:ea typeface="Lato"/>
                <a:cs typeface="Lato"/>
                <a:sym typeface="Lato"/>
              </a:rPr>
              <a:t>Designed specifically for municipal security desks and critical national asset monitoring units. High-level dashboard displays visual threat vectors instantly.</a:t>
            </a:r>
            <a:endParaRPr/>
          </a:p>
        </p:txBody>
      </p:sp>
      <p:pic>
        <p:nvPicPr>
          <p:cNvPr descr="image.png" id="224" name="Google Shape;224;p18"/>
          <p:cNvPicPr preferRelativeResize="0"/>
          <p:nvPr/>
        </p:nvPicPr>
        <p:blipFill rotWithShape="1">
          <a:blip r:embed="rId7">
            <a:alphaModFix/>
          </a:blip>
          <a:srcRect b="0" l="0" r="0" t="0"/>
          <a:stretch/>
        </p:blipFill>
        <p:spPr>
          <a:xfrm>
            <a:off x="6823620" y="2203995"/>
            <a:ext cx="4625429" cy="3581400"/>
          </a:xfrm>
          <a:prstGeom prst="rect">
            <a:avLst/>
          </a:prstGeom>
          <a:noFill/>
          <a:ln>
            <a:noFill/>
          </a:ln>
        </p:spPr>
      </p:pic>
      <p:sp>
        <p:nvSpPr>
          <p:cNvPr id="225" name="Google Shape;225;p18"/>
          <p:cNvSpPr txBox="1"/>
          <p:nvPr/>
        </p:nvSpPr>
        <p:spPr>
          <a:xfrm>
            <a:off x="1057275" y="3967013"/>
            <a:ext cx="536629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Real-Time Threat Mapping:</a:t>
            </a:r>
            <a:r>
              <a:rPr b="0" i="0" lang="en-US" sz="1275" u="none" cap="none" strike="noStrike">
                <a:solidFill>
                  <a:srgbClr val="94A3B8"/>
                </a:solidFill>
                <a:latin typeface="Lato"/>
                <a:ea typeface="Lato"/>
                <a:cs typeface="Lato"/>
                <a:sym typeface="Lato"/>
              </a:rPr>
              <a:t> Displays flashing regional coordinate alerts on precise satellite telemetry layers.</a:t>
            </a:r>
            <a:endParaRPr/>
          </a:p>
        </p:txBody>
      </p:sp>
      <p:sp>
        <p:nvSpPr>
          <p:cNvPr id="226" name="Google Shape;226;p18"/>
          <p:cNvSpPr txBox="1"/>
          <p:nvPr/>
        </p:nvSpPr>
        <p:spPr>
          <a:xfrm>
            <a:off x="1057275" y="4652813"/>
            <a:ext cx="5366295" cy="495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1275" u="none" cap="none" strike="noStrike">
                <a:solidFill>
                  <a:srgbClr val="FFFFFF"/>
                </a:solidFill>
                <a:latin typeface="Lato"/>
                <a:ea typeface="Lato"/>
                <a:cs typeface="Lato"/>
                <a:sym typeface="Lato"/>
              </a:rPr>
              <a:t>Active Alarm Matrix:</a:t>
            </a:r>
            <a:r>
              <a:rPr b="0" i="0" lang="en-US" sz="1275" u="none" cap="none" strike="noStrike">
                <a:solidFill>
                  <a:srgbClr val="94A3B8"/>
                </a:solidFill>
                <a:latin typeface="Lato"/>
                <a:ea typeface="Lato"/>
                <a:cs typeface="Lato"/>
                <a:sym typeface="Lato"/>
              </a:rPr>
              <a:t> Dynamic escalation queue classifying events from ambient vibration up to absolute hardware damage.</a:t>
            </a:r>
            <a:endParaRPr/>
          </a:p>
        </p:txBody>
      </p:sp>
      <p:pic>
        <p:nvPicPr>
          <p:cNvPr descr="image.png" id="227" name="Google Shape;227;p18"/>
          <p:cNvPicPr preferRelativeResize="0"/>
          <p:nvPr/>
        </p:nvPicPr>
        <p:blipFill rotWithShape="1">
          <a:blip r:embed="rId8">
            <a:alphaModFix/>
          </a:blip>
          <a:srcRect b="0" l="0" r="0" t="0"/>
          <a:stretch/>
        </p:blipFill>
        <p:spPr>
          <a:xfrm>
            <a:off x="6976020" y="2323058"/>
            <a:ext cx="114300" cy="95250"/>
          </a:xfrm>
          <a:prstGeom prst="rect">
            <a:avLst/>
          </a:prstGeom>
          <a:noFill/>
          <a:ln>
            <a:noFill/>
          </a:ln>
        </p:spPr>
      </p:pic>
      <p:pic>
        <p:nvPicPr>
          <p:cNvPr descr="image.png" id="228" name="Google Shape;228;p18"/>
          <p:cNvPicPr preferRelativeResize="0"/>
          <p:nvPr/>
        </p:nvPicPr>
        <p:blipFill rotWithShape="1">
          <a:blip r:embed="rId9">
            <a:alphaModFix/>
          </a:blip>
          <a:srcRect b="0" l="0" r="0" t="0"/>
          <a:stretch/>
        </p:blipFill>
        <p:spPr>
          <a:xfrm>
            <a:off x="723900" y="4000351"/>
            <a:ext cx="171450" cy="180975"/>
          </a:xfrm>
          <a:prstGeom prst="rect">
            <a:avLst/>
          </a:prstGeom>
          <a:noFill/>
          <a:ln>
            <a:noFill/>
          </a:ln>
        </p:spPr>
      </p:pic>
      <p:pic>
        <p:nvPicPr>
          <p:cNvPr descr="image.png" id="229" name="Google Shape;229;p18"/>
          <p:cNvPicPr preferRelativeResize="0"/>
          <p:nvPr/>
        </p:nvPicPr>
        <p:blipFill rotWithShape="1">
          <a:blip r:embed="rId10">
            <a:alphaModFix/>
          </a:blip>
          <a:srcRect b="0" l="0" r="0" t="0"/>
          <a:stretch/>
        </p:blipFill>
        <p:spPr>
          <a:xfrm>
            <a:off x="723900" y="4686151"/>
            <a:ext cx="171450" cy="180975"/>
          </a:xfrm>
          <a:prstGeom prst="rect">
            <a:avLst/>
          </a:prstGeom>
          <a:noFill/>
          <a:ln>
            <a:noFill/>
          </a:ln>
        </p:spPr>
      </p:pic>
      <p:sp>
        <p:nvSpPr>
          <p:cNvPr id="230" name="Google Shape;230;p18"/>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DISPLAY CONSOLE: CENTRAL_OPERATIONS ] MUNICIPAL THREAT INTERFACE</a:t>
            </a:r>
            <a:endParaRPr/>
          </a:p>
        </p:txBody>
      </p:sp>
      <p:sp>
        <p:nvSpPr>
          <p:cNvPr id="231" name="Google Shape;231;p18"/>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8"/>
          <p:cNvSpPr txBox="1"/>
          <p:nvPr/>
        </p:nvSpPr>
        <p:spPr>
          <a:xfrm>
            <a:off x="723900" y="10382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OPERATIONAL </a:t>
            </a:r>
            <a:r>
              <a:rPr b="1" i="0" lang="en-US" sz="2550" u="none" cap="none" strike="noStrike">
                <a:solidFill>
                  <a:srgbClr val="38BDF8"/>
                </a:solidFill>
                <a:latin typeface="Orbitron"/>
                <a:ea typeface="Orbitron"/>
                <a:cs typeface="Orbitron"/>
                <a:sym typeface="Orbitron"/>
              </a:rPr>
              <a:t>COMMAND CONSOLE</a:t>
            </a:r>
            <a:endParaRPr/>
          </a:p>
        </p:txBody>
      </p:sp>
      <p:sp>
        <p:nvSpPr>
          <p:cNvPr id="233" name="Google Shape;233;p18"/>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18"/>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5" name="Google Shape;235;p18"/>
          <p:cNvPicPr preferRelativeResize="0"/>
          <p:nvPr/>
        </p:nvPicPr>
        <p:blipFill rotWithShape="1">
          <a:blip r:embed="rId11">
            <a:alphaModFix/>
          </a:blip>
          <a:srcRect b="0" l="0" r="0" t="0"/>
          <a:stretch/>
        </p:blipFill>
        <p:spPr>
          <a:xfrm>
            <a:off x="6918870" y="2299245"/>
            <a:ext cx="1704975" cy="142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39" name="Shape 239"/>
        <p:cNvGrpSpPr/>
        <p:nvPr/>
      </p:nvGrpSpPr>
      <p:grpSpPr>
        <a:xfrm>
          <a:off x="0" y="0"/>
          <a:ext cx="0" cy="0"/>
          <a:chOff x="0" y="0"/>
          <a:chExt cx="0" cy="0"/>
        </a:xfrm>
      </p:grpSpPr>
      <p:pic>
        <p:nvPicPr>
          <p:cNvPr descr="image.png" id="240" name="Google Shape;24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1" name="Google Shape;241;p19"/>
          <p:cNvPicPr preferRelativeResize="0"/>
          <p:nvPr/>
        </p:nvPicPr>
        <p:blipFill rotWithShape="1">
          <a:blip r:embed="rId4">
            <a:alphaModFix/>
          </a:blip>
          <a:srcRect b="0" l="0" r="0" t="0"/>
          <a:stretch/>
        </p:blipFill>
        <p:spPr>
          <a:xfrm>
            <a:off x="723900" y="2495550"/>
            <a:ext cx="3429000" cy="2998440"/>
          </a:xfrm>
          <a:prstGeom prst="rect">
            <a:avLst/>
          </a:prstGeom>
          <a:noFill/>
          <a:ln>
            <a:noFill/>
          </a:ln>
        </p:spPr>
      </p:pic>
      <p:pic>
        <p:nvPicPr>
          <p:cNvPr descr="image.png" id="242" name="Google Shape;242;p19"/>
          <p:cNvPicPr preferRelativeResize="0"/>
          <p:nvPr/>
        </p:nvPicPr>
        <p:blipFill rotWithShape="1">
          <a:blip r:embed="rId5">
            <a:alphaModFix/>
          </a:blip>
          <a:srcRect b="0" l="0" r="0" t="0"/>
          <a:stretch/>
        </p:blipFill>
        <p:spPr>
          <a:xfrm>
            <a:off x="4381500" y="2495550"/>
            <a:ext cx="3429000" cy="2998440"/>
          </a:xfrm>
          <a:prstGeom prst="rect">
            <a:avLst/>
          </a:prstGeom>
          <a:noFill/>
          <a:ln>
            <a:noFill/>
          </a:ln>
        </p:spPr>
      </p:pic>
      <p:pic>
        <p:nvPicPr>
          <p:cNvPr descr="image.png" id="243" name="Google Shape;243;p19"/>
          <p:cNvPicPr preferRelativeResize="0"/>
          <p:nvPr/>
        </p:nvPicPr>
        <p:blipFill rotWithShape="1">
          <a:blip r:embed="rId6">
            <a:alphaModFix/>
          </a:blip>
          <a:srcRect b="0" l="0" r="0" t="0"/>
          <a:stretch/>
        </p:blipFill>
        <p:spPr>
          <a:xfrm>
            <a:off x="8039100" y="2495550"/>
            <a:ext cx="3429000" cy="2998440"/>
          </a:xfrm>
          <a:prstGeom prst="rect">
            <a:avLst/>
          </a:prstGeom>
          <a:noFill/>
          <a:ln>
            <a:noFill/>
          </a:ln>
        </p:spPr>
      </p:pic>
      <p:pic>
        <p:nvPicPr>
          <p:cNvPr descr="image.png" id="244" name="Google Shape;244;p19"/>
          <p:cNvPicPr preferRelativeResize="0"/>
          <p:nvPr/>
        </p:nvPicPr>
        <p:blipFill rotWithShape="1">
          <a:blip r:embed="rId7">
            <a:alphaModFix/>
          </a:blip>
          <a:srcRect b="0" l="0" r="0" t="0"/>
          <a:stretch/>
        </p:blipFill>
        <p:spPr>
          <a:xfrm>
            <a:off x="2128837" y="2867025"/>
            <a:ext cx="619125" cy="619125"/>
          </a:xfrm>
          <a:prstGeom prst="rect">
            <a:avLst/>
          </a:prstGeom>
          <a:noFill/>
          <a:ln>
            <a:noFill/>
          </a:ln>
        </p:spPr>
      </p:pic>
      <p:sp>
        <p:nvSpPr>
          <p:cNvPr id="245" name="Google Shape;245;p19"/>
          <p:cNvSpPr txBox="1"/>
          <p:nvPr/>
        </p:nvSpPr>
        <p:spPr>
          <a:xfrm>
            <a:off x="1719262" y="3676650"/>
            <a:ext cx="1438275" cy="502890"/>
          </a:xfrm>
          <a:prstGeom prst="rect">
            <a:avLst/>
          </a:prstGeom>
          <a:noFill/>
          <a:ln>
            <a:noFill/>
          </a:ln>
        </p:spPr>
        <p:txBody>
          <a:bodyPr anchorCtr="0" anchor="t" bIns="0" lIns="0" spcFirstLastPara="1" rIns="0" wrap="square" tIns="0">
            <a:spAutoFit/>
          </a:bodyPr>
          <a:lstStyle/>
          <a:p>
            <a:pPr indent="0" lvl="0" marL="0" marR="0" rtl="0" algn="ctr">
              <a:lnSpc>
                <a:spcPct val="109972"/>
              </a:lnSpc>
              <a:spcBef>
                <a:spcPts val="0"/>
              </a:spcBef>
              <a:spcAft>
                <a:spcPts val="0"/>
              </a:spcAft>
              <a:buNone/>
            </a:pPr>
            <a:r>
              <a:rPr b="0" i="0" lang="en-US" sz="3600" u="none" cap="none" strike="noStrike">
                <a:solidFill>
                  <a:srgbClr val="FFFFFF"/>
                </a:solidFill>
                <a:latin typeface="Orbitron ExtraBold"/>
                <a:ea typeface="Orbitron ExtraBold"/>
                <a:cs typeface="Orbitron ExtraBold"/>
                <a:sym typeface="Orbitron ExtraBold"/>
              </a:rPr>
              <a:t>-92%</a:t>
            </a:r>
            <a:endParaRPr/>
          </a:p>
        </p:txBody>
      </p:sp>
      <p:sp>
        <p:nvSpPr>
          <p:cNvPr id="246" name="Google Shape;246;p19"/>
          <p:cNvSpPr txBox="1"/>
          <p:nvPr/>
        </p:nvSpPr>
        <p:spPr>
          <a:xfrm>
            <a:off x="1347787" y="4227165"/>
            <a:ext cx="2181225"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38BDF8"/>
                </a:solidFill>
                <a:latin typeface="Orbitron"/>
                <a:ea typeface="Orbitron"/>
                <a:cs typeface="Orbitron"/>
                <a:sym typeface="Orbitron"/>
              </a:rPr>
              <a:t>VANDALISM REDUCTION</a:t>
            </a:r>
            <a:endParaRPr/>
          </a:p>
        </p:txBody>
      </p:sp>
      <p:sp>
        <p:nvSpPr>
          <p:cNvPr id="247" name="Google Shape;247;p19"/>
          <p:cNvSpPr txBox="1"/>
          <p:nvPr/>
        </p:nvSpPr>
        <p:spPr>
          <a:xfrm>
            <a:off x="971550" y="4551015"/>
            <a:ext cx="2933700" cy="6000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Deployments show near-total drops in structural copper wire stripping and regional utility box intrusions.</a:t>
            </a:r>
            <a:endParaRPr/>
          </a:p>
        </p:txBody>
      </p:sp>
      <p:pic>
        <p:nvPicPr>
          <p:cNvPr descr="image.png" id="248" name="Google Shape;248;p19"/>
          <p:cNvPicPr preferRelativeResize="0"/>
          <p:nvPr/>
        </p:nvPicPr>
        <p:blipFill rotWithShape="1">
          <a:blip r:embed="rId8">
            <a:alphaModFix/>
          </a:blip>
          <a:srcRect b="0" l="0" r="0" t="0"/>
          <a:stretch/>
        </p:blipFill>
        <p:spPr>
          <a:xfrm>
            <a:off x="5786437" y="2867025"/>
            <a:ext cx="619125" cy="619125"/>
          </a:xfrm>
          <a:prstGeom prst="rect">
            <a:avLst/>
          </a:prstGeom>
          <a:noFill/>
          <a:ln>
            <a:noFill/>
          </a:ln>
        </p:spPr>
      </p:pic>
      <p:sp>
        <p:nvSpPr>
          <p:cNvPr id="249" name="Google Shape;249;p19"/>
          <p:cNvSpPr txBox="1"/>
          <p:nvPr/>
        </p:nvSpPr>
        <p:spPr>
          <a:xfrm>
            <a:off x="5572125" y="3676650"/>
            <a:ext cx="1047750" cy="502890"/>
          </a:xfrm>
          <a:prstGeom prst="rect">
            <a:avLst/>
          </a:prstGeom>
          <a:noFill/>
          <a:ln>
            <a:noFill/>
          </a:ln>
        </p:spPr>
        <p:txBody>
          <a:bodyPr anchorCtr="0" anchor="t" bIns="0" lIns="0" spcFirstLastPara="1" rIns="0" wrap="square" tIns="0">
            <a:spAutoFit/>
          </a:bodyPr>
          <a:lstStyle/>
          <a:p>
            <a:pPr indent="0" lvl="0" marL="0" marR="0" rtl="0" algn="ctr">
              <a:lnSpc>
                <a:spcPct val="109972"/>
              </a:lnSpc>
              <a:spcBef>
                <a:spcPts val="0"/>
              </a:spcBef>
              <a:spcAft>
                <a:spcPts val="0"/>
              </a:spcAft>
              <a:buNone/>
            </a:pPr>
            <a:r>
              <a:rPr b="0" i="0" lang="en-US" sz="3600" u="none" cap="none" strike="noStrike">
                <a:solidFill>
                  <a:srgbClr val="FFFFFF"/>
                </a:solidFill>
                <a:latin typeface="Orbitron ExtraBold"/>
                <a:ea typeface="Orbitron ExtraBold"/>
                <a:cs typeface="Orbitron ExtraBold"/>
                <a:sym typeface="Orbitron ExtraBold"/>
              </a:rPr>
              <a:t>&lt;3m</a:t>
            </a:r>
            <a:endParaRPr/>
          </a:p>
        </p:txBody>
      </p:sp>
      <p:sp>
        <p:nvSpPr>
          <p:cNvPr id="250" name="Google Shape;250;p19"/>
          <p:cNvSpPr txBox="1"/>
          <p:nvPr/>
        </p:nvSpPr>
        <p:spPr>
          <a:xfrm>
            <a:off x="4910137" y="4227165"/>
            <a:ext cx="2371725"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38BDF8"/>
                </a:solidFill>
                <a:latin typeface="Orbitron"/>
                <a:ea typeface="Orbitron"/>
                <a:cs typeface="Orbitron"/>
                <a:sym typeface="Orbitron"/>
              </a:rPr>
              <a:t>DISPATCH ACCELERATION</a:t>
            </a:r>
            <a:endParaRPr/>
          </a:p>
        </p:txBody>
      </p:sp>
      <p:sp>
        <p:nvSpPr>
          <p:cNvPr id="251" name="Google Shape;251;p19"/>
          <p:cNvSpPr txBox="1"/>
          <p:nvPr/>
        </p:nvSpPr>
        <p:spPr>
          <a:xfrm>
            <a:off x="4629150" y="4551015"/>
            <a:ext cx="2933700" cy="6000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Encrypted telemetry signals directly alert patrol vehicle terminals, bypassing communication bottlenecks.</a:t>
            </a:r>
            <a:endParaRPr/>
          </a:p>
        </p:txBody>
      </p:sp>
      <p:pic>
        <p:nvPicPr>
          <p:cNvPr descr="image.png" id="252" name="Google Shape;252;p19"/>
          <p:cNvPicPr preferRelativeResize="0"/>
          <p:nvPr/>
        </p:nvPicPr>
        <p:blipFill rotWithShape="1">
          <a:blip r:embed="rId9">
            <a:alphaModFix/>
          </a:blip>
          <a:srcRect b="0" l="0" r="0" t="0"/>
          <a:stretch/>
        </p:blipFill>
        <p:spPr>
          <a:xfrm>
            <a:off x="9444037" y="2867025"/>
            <a:ext cx="619125" cy="619125"/>
          </a:xfrm>
          <a:prstGeom prst="rect">
            <a:avLst/>
          </a:prstGeom>
          <a:noFill/>
          <a:ln>
            <a:noFill/>
          </a:ln>
        </p:spPr>
      </p:pic>
      <p:sp>
        <p:nvSpPr>
          <p:cNvPr id="253" name="Google Shape;253;p19"/>
          <p:cNvSpPr txBox="1"/>
          <p:nvPr/>
        </p:nvSpPr>
        <p:spPr>
          <a:xfrm>
            <a:off x="9315450" y="3676650"/>
            <a:ext cx="876300" cy="502890"/>
          </a:xfrm>
          <a:prstGeom prst="rect">
            <a:avLst/>
          </a:prstGeom>
          <a:noFill/>
          <a:ln>
            <a:noFill/>
          </a:ln>
        </p:spPr>
        <p:txBody>
          <a:bodyPr anchorCtr="0" anchor="t" bIns="0" lIns="0" spcFirstLastPara="1" rIns="0" wrap="square" tIns="0">
            <a:spAutoFit/>
          </a:bodyPr>
          <a:lstStyle/>
          <a:p>
            <a:pPr indent="0" lvl="0" marL="0" marR="0" rtl="0" algn="ctr">
              <a:lnSpc>
                <a:spcPct val="109972"/>
              </a:lnSpc>
              <a:spcBef>
                <a:spcPts val="0"/>
              </a:spcBef>
              <a:spcAft>
                <a:spcPts val="0"/>
              </a:spcAft>
              <a:buNone/>
            </a:pPr>
            <a:r>
              <a:rPr b="0" i="0" lang="en-US" sz="3600" u="none" cap="none" strike="noStrike">
                <a:solidFill>
                  <a:srgbClr val="FFFFFF"/>
                </a:solidFill>
                <a:latin typeface="Orbitron ExtraBold"/>
                <a:ea typeface="Orbitron ExtraBold"/>
                <a:cs typeface="Orbitron ExtraBold"/>
                <a:sym typeface="Orbitron ExtraBold"/>
              </a:rPr>
              <a:t>10x</a:t>
            </a:r>
            <a:endParaRPr/>
          </a:p>
        </p:txBody>
      </p:sp>
      <p:sp>
        <p:nvSpPr>
          <p:cNvPr id="254" name="Google Shape;254;p19"/>
          <p:cNvSpPr txBox="1"/>
          <p:nvPr/>
        </p:nvSpPr>
        <p:spPr>
          <a:xfrm>
            <a:off x="8791575" y="4227165"/>
            <a:ext cx="1924050"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38BDF8"/>
                </a:solidFill>
                <a:latin typeface="Orbitron"/>
                <a:ea typeface="Orbitron"/>
                <a:cs typeface="Orbitron"/>
                <a:sym typeface="Orbitron"/>
              </a:rPr>
              <a:t>TAXPAYER ROI YIELD</a:t>
            </a:r>
            <a:endParaRPr/>
          </a:p>
        </p:txBody>
      </p:sp>
      <p:sp>
        <p:nvSpPr>
          <p:cNvPr id="255" name="Google Shape;255;p19"/>
          <p:cNvSpPr txBox="1"/>
          <p:nvPr/>
        </p:nvSpPr>
        <p:spPr>
          <a:xfrm>
            <a:off x="8286750" y="4551015"/>
            <a:ext cx="2933700" cy="6000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Automated mitigation prevents expensive hardware replacement cycles and prolonged load restoration outages.</a:t>
            </a:r>
            <a:endParaRPr/>
          </a:p>
        </p:txBody>
      </p:sp>
      <p:pic>
        <p:nvPicPr>
          <p:cNvPr descr="image.png" id="256" name="Google Shape;256;p19"/>
          <p:cNvPicPr preferRelativeResize="0"/>
          <p:nvPr/>
        </p:nvPicPr>
        <p:blipFill rotWithShape="1">
          <a:blip r:embed="rId10">
            <a:alphaModFix/>
          </a:blip>
          <a:srcRect b="0" l="0" r="0" t="0"/>
          <a:stretch/>
        </p:blipFill>
        <p:spPr>
          <a:xfrm>
            <a:off x="2324100" y="3062287"/>
            <a:ext cx="228600" cy="228600"/>
          </a:xfrm>
          <a:prstGeom prst="rect">
            <a:avLst/>
          </a:prstGeom>
          <a:noFill/>
          <a:ln>
            <a:noFill/>
          </a:ln>
        </p:spPr>
      </p:pic>
      <p:pic>
        <p:nvPicPr>
          <p:cNvPr descr="image.png" id="257" name="Google Shape;257;p19"/>
          <p:cNvPicPr preferRelativeResize="0"/>
          <p:nvPr/>
        </p:nvPicPr>
        <p:blipFill rotWithShape="1">
          <a:blip r:embed="rId11">
            <a:alphaModFix/>
          </a:blip>
          <a:srcRect b="0" l="0" r="0" t="0"/>
          <a:stretch/>
        </p:blipFill>
        <p:spPr>
          <a:xfrm>
            <a:off x="5981700" y="3062287"/>
            <a:ext cx="228600" cy="228600"/>
          </a:xfrm>
          <a:prstGeom prst="rect">
            <a:avLst/>
          </a:prstGeom>
          <a:noFill/>
          <a:ln>
            <a:noFill/>
          </a:ln>
        </p:spPr>
      </p:pic>
      <p:pic>
        <p:nvPicPr>
          <p:cNvPr descr="image.png" id="258" name="Google Shape;258;p19"/>
          <p:cNvPicPr preferRelativeResize="0"/>
          <p:nvPr/>
        </p:nvPicPr>
        <p:blipFill rotWithShape="1">
          <a:blip r:embed="rId12">
            <a:alphaModFix/>
          </a:blip>
          <a:srcRect b="0" l="0" r="0" t="0"/>
          <a:stretch/>
        </p:blipFill>
        <p:spPr>
          <a:xfrm>
            <a:off x="9639300" y="3062287"/>
            <a:ext cx="228600" cy="228600"/>
          </a:xfrm>
          <a:prstGeom prst="rect">
            <a:avLst/>
          </a:prstGeom>
          <a:noFill/>
          <a:ln>
            <a:noFill/>
          </a:ln>
        </p:spPr>
      </p:pic>
      <p:sp>
        <p:nvSpPr>
          <p:cNvPr id="259" name="Google Shape;259;p19"/>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SYSTEM EVALUATION: DEPLOYMENT_METRICS ] DEFENSE EFFECTIVENESS INDEX</a:t>
            </a:r>
            <a:endParaRPr/>
          </a:p>
        </p:txBody>
      </p:sp>
      <p:sp>
        <p:nvSpPr>
          <p:cNvPr id="260" name="Google Shape;260;p19"/>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9"/>
          <p:cNvSpPr txBox="1"/>
          <p:nvPr/>
        </p:nvSpPr>
        <p:spPr>
          <a:xfrm>
            <a:off x="723900" y="10382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DEFENSIVE </a:t>
            </a:r>
            <a:r>
              <a:rPr b="1" i="0" lang="en-US" sz="2550" u="none" cap="none" strike="noStrike">
                <a:solidFill>
                  <a:srgbClr val="38BDF8"/>
                </a:solidFill>
                <a:latin typeface="Orbitron"/>
                <a:ea typeface="Orbitron"/>
                <a:cs typeface="Orbitron"/>
                <a:sym typeface="Orbitron"/>
              </a:rPr>
              <a:t>OPERATIONAL OUTCOMES</a:t>
            </a:r>
            <a:endParaRPr/>
          </a:p>
        </p:txBody>
      </p:sp>
      <p:sp>
        <p:nvSpPr>
          <p:cNvPr id="262" name="Google Shape;262;p19"/>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9"/>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67" name="Shape 267"/>
        <p:cNvGrpSpPr/>
        <p:nvPr/>
      </p:nvGrpSpPr>
      <p:grpSpPr>
        <a:xfrm>
          <a:off x="0" y="0"/>
          <a:ext cx="0" cy="0"/>
          <a:chOff x="0" y="0"/>
          <a:chExt cx="0" cy="0"/>
        </a:xfrm>
      </p:grpSpPr>
      <p:pic>
        <p:nvPicPr>
          <p:cNvPr descr="image.png" id="268" name="Google Shape;268;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9" name="Google Shape;269;p20"/>
          <p:cNvPicPr preferRelativeResize="0"/>
          <p:nvPr/>
        </p:nvPicPr>
        <p:blipFill rotWithShape="1">
          <a:blip r:embed="rId4">
            <a:alphaModFix/>
          </a:blip>
          <a:srcRect b="0" l="0" r="0" t="0"/>
          <a:stretch/>
        </p:blipFill>
        <p:spPr>
          <a:xfrm>
            <a:off x="2895600" y="4644181"/>
            <a:ext cx="6400800" cy="476250"/>
          </a:xfrm>
          <a:prstGeom prst="rect">
            <a:avLst/>
          </a:prstGeom>
          <a:noFill/>
          <a:ln>
            <a:noFill/>
          </a:ln>
        </p:spPr>
      </p:pic>
      <p:sp>
        <p:nvSpPr>
          <p:cNvPr id="270" name="Google Shape;270;p20"/>
          <p:cNvSpPr txBox="1"/>
          <p:nvPr/>
        </p:nvSpPr>
        <p:spPr>
          <a:xfrm>
            <a:off x="1595437" y="2242244"/>
            <a:ext cx="9001125" cy="959941"/>
          </a:xfrm>
          <a:prstGeom prst="rect">
            <a:avLst/>
          </a:prstGeom>
          <a:noFill/>
          <a:ln>
            <a:noFill/>
          </a:ln>
        </p:spPr>
        <p:txBody>
          <a:bodyPr anchorCtr="0" anchor="t" bIns="0" lIns="0" spcFirstLastPara="1" rIns="0" wrap="square" tIns="0">
            <a:spAutoFit/>
          </a:bodyPr>
          <a:lstStyle/>
          <a:p>
            <a:pPr indent="0" lvl="0" marL="0" marR="0" rtl="0" algn="ctr">
              <a:lnSpc>
                <a:spcPct val="119968"/>
              </a:lnSpc>
              <a:spcBef>
                <a:spcPts val="0"/>
              </a:spcBef>
              <a:spcAft>
                <a:spcPts val="0"/>
              </a:spcAft>
              <a:buNone/>
            </a:pPr>
            <a:r>
              <a:rPr b="0" i="0" lang="en-US" sz="3150" u="none" cap="none" strike="noStrike">
                <a:solidFill>
                  <a:srgbClr val="FFFFFF"/>
                </a:solidFill>
                <a:latin typeface="Orbitron ExtraBold"/>
                <a:ea typeface="Orbitron ExtraBold"/>
                <a:cs typeface="Orbitron ExtraBold"/>
                <a:sym typeface="Orbitron ExtraBold"/>
              </a:rPr>
              <a:t>Securing South Africa's </a:t>
            </a:r>
            <a:r>
              <a:rPr b="0" i="0" lang="en-US" sz="3150" u="none" cap="none" strike="noStrike">
                <a:solidFill>
                  <a:srgbClr val="38BDF8"/>
                </a:solidFill>
                <a:latin typeface="Orbitron ExtraBold"/>
                <a:ea typeface="Orbitron ExtraBold"/>
                <a:cs typeface="Orbitron ExtraBold"/>
                <a:sym typeface="Orbitron ExtraBold"/>
              </a:rPr>
              <a:t>Digital Infrastructure</a:t>
            </a:r>
            <a:endParaRPr/>
          </a:p>
        </p:txBody>
      </p:sp>
      <p:sp>
        <p:nvSpPr>
          <p:cNvPr id="271" name="Google Shape;271;p20"/>
          <p:cNvSpPr txBox="1"/>
          <p:nvPr/>
        </p:nvSpPr>
        <p:spPr>
          <a:xfrm>
            <a:off x="1809750" y="3440310"/>
            <a:ext cx="85725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94A3B8"/>
                </a:solidFill>
                <a:latin typeface="Lato"/>
                <a:ea typeface="Lato"/>
                <a:cs typeface="Lato"/>
                <a:sym typeface="Lato"/>
              </a:rPr>
              <a:t>SentinelAI represents a fundamental leap in municipal utility protection. Our immediate vision is to integrate physical IoT edge node shields across national smart grids, railway structures, and water delivery matrices to safeguard the state's most critical assets.</a:t>
            </a:r>
            <a:endParaRPr/>
          </a:p>
        </p:txBody>
      </p:sp>
      <p:sp>
        <p:nvSpPr>
          <p:cNvPr id="272" name="Google Shape;272;p20"/>
          <p:cNvSpPr txBox="1"/>
          <p:nvPr/>
        </p:nvSpPr>
        <p:spPr>
          <a:xfrm>
            <a:off x="6153150" y="4796581"/>
            <a:ext cx="95250" cy="17145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38BDF8"/>
                </a:solidFill>
                <a:latin typeface="Share Tech Mono"/>
                <a:ea typeface="Share Tech Mono"/>
                <a:cs typeface="Share Tech Mono"/>
                <a:sym typeface="Share Tech Mono"/>
              </a:rPr>
              <a:t>|</a:t>
            </a:r>
            <a:endParaRPr/>
          </a:p>
        </p:txBody>
      </p:sp>
      <p:pic>
        <p:nvPicPr>
          <p:cNvPr descr="image.png" id="273" name="Google Shape;273;p20"/>
          <p:cNvPicPr preferRelativeResize="0"/>
          <p:nvPr/>
        </p:nvPicPr>
        <p:blipFill rotWithShape="1">
          <a:blip r:embed="rId5">
            <a:alphaModFix/>
          </a:blip>
          <a:srcRect b="0" l="0" r="0" t="0"/>
          <a:stretch/>
        </p:blipFill>
        <p:spPr>
          <a:xfrm>
            <a:off x="3286125" y="4806106"/>
            <a:ext cx="180975" cy="152400"/>
          </a:xfrm>
          <a:prstGeom prst="rect">
            <a:avLst/>
          </a:prstGeom>
          <a:noFill/>
          <a:ln>
            <a:noFill/>
          </a:ln>
        </p:spPr>
      </p:pic>
      <p:sp>
        <p:nvSpPr>
          <p:cNvPr id="274" name="Google Shape;274;p20"/>
          <p:cNvSpPr txBox="1"/>
          <p:nvPr/>
        </p:nvSpPr>
        <p:spPr>
          <a:xfrm>
            <a:off x="3581400" y="4796581"/>
            <a:ext cx="2190750"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38BDF8"/>
                </a:solidFill>
                <a:latin typeface="Share Tech Mono"/>
                <a:ea typeface="Share Tech Mono"/>
                <a:cs typeface="Share Tech Mono"/>
                <a:sym typeface="Share Tech Mono"/>
              </a:rPr>
              <a:t>admin@sentinelai.gov.za</a:t>
            </a:r>
            <a:endParaRPr/>
          </a:p>
        </p:txBody>
      </p:sp>
      <p:pic>
        <p:nvPicPr>
          <p:cNvPr descr="image.png" id="275" name="Google Shape;275;p20"/>
          <p:cNvPicPr preferRelativeResize="0"/>
          <p:nvPr/>
        </p:nvPicPr>
        <p:blipFill rotWithShape="1">
          <a:blip r:embed="rId6">
            <a:alphaModFix/>
          </a:blip>
          <a:srcRect b="0" l="0" r="0" t="0"/>
          <a:stretch/>
        </p:blipFill>
        <p:spPr>
          <a:xfrm>
            <a:off x="6629400" y="4806106"/>
            <a:ext cx="161925" cy="152400"/>
          </a:xfrm>
          <a:prstGeom prst="rect">
            <a:avLst/>
          </a:prstGeom>
          <a:noFill/>
          <a:ln>
            <a:noFill/>
          </a:ln>
        </p:spPr>
      </p:pic>
      <p:sp>
        <p:nvSpPr>
          <p:cNvPr id="276" name="Google Shape;276;p20"/>
          <p:cNvSpPr txBox="1"/>
          <p:nvPr/>
        </p:nvSpPr>
        <p:spPr>
          <a:xfrm>
            <a:off x="6905625" y="4796581"/>
            <a:ext cx="2000250"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38BDF8"/>
                </a:solidFill>
                <a:latin typeface="Share Tech Mono"/>
                <a:ea typeface="Share Tech Mono"/>
                <a:cs typeface="Share Tech Mono"/>
                <a:sym typeface="Share Tech Mono"/>
              </a:rPr>
              <a:t>www.sentinelai.gov.za</a:t>
            </a:r>
            <a:endParaRPr/>
          </a:p>
        </p:txBody>
      </p:sp>
      <p:sp>
        <p:nvSpPr>
          <p:cNvPr id="277" name="Google Shape;277;p20"/>
          <p:cNvSpPr txBox="1"/>
          <p:nvPr/>
        </p:nvSpPr>
        <p:spPr>
          <a:xfrm>
            <a:off x="723900" y="533400"/>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PARTNER GATEWAY: INITIATION ] NATIONAL SECURITIES INTEGRATION</a:t>
            </a:r>
            <a:endParaRPr/>
          </a:p>
        </p:txBody>
      </p:sp>
      <p:sp>
        <p:nvSpPr>
          <p:cNvPr id="278" name="Google Shape;278;p20"/>
          <p:cNvSpPr/>
          <p:nvPr/>
        </p:nvSpPr>
        <p:spPr>
          <a:xfrm>
            <a:off x="723900" y="790575"/>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0"/>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0"/>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284" name="Shape 284"/>
        <p:cNvGrpSpPr/>
        <p:nvPr/>
      </p:nvGrpSpPr>
      <p:grpSpPr>
        <a:xfrm>
          <a:off x="0" y="0"/>
          <a:ext cx="0" cy="0"/>
          <a:chOff x="0" y="0"/>
          <a:chExt cx="0" cy="0"/>
        </a:xfrm>
      </p:grpSpPr>
      <p:pic>
        <p:nvPicPr>
          <p:cNvPr descr="image.png" id="285" name="Google Shape;285;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6" name="Google Shape;286;p21"/>
          <p:cNvPicPr preferRelativeResize="0"/>
          <p:nvPr/>
        </p:nvPicPr>
        <p:blipFill rotWithShape="1">
          <a:blip r:embed="rId4">
            <a:alphaModFix/>
          </a:blip>
          <a:srcRect b="0" l="0" r="0" t="0"/>
          <a:stretch/>
        </p:blipFill>
        <p:spPr>
          <a:xfrm>
            <a:off x="723900" y="2985045"/>
            <a:ext cx="857250" cy="476250"/>
          </a:xfrm>
          <a:prstGeom prst="rect">
            <a:avLst/>
          </a:prstGeom>
          <a:noFill/>
          <a:ln>
            <a:noFill/>
          </a:ln>
        </p:spPr>
      </p:pic>
      <p:pic>
        <p:nvPicPr>
          <p:cNvPr descr="image.png" id="287" name="Google Shape;287;p21"/>
          <p:cNvPicPr preferRelativeResize="0"/>
          <p:nvPr/>
        </p:nvPicPr>
        <p:blipFill rotWithShape="1">
          <a:blip r:embed="rId4">
            <a:alphaModFix/>
          </a:blip>
          <a:srcRect b="0" l="0" r="0" t="0"/>
          <a:stretch/>
        </p:blipFill>
        <p:spPr>
          <a:xfrm>
            <a:off x="723900" y="3756570"/>
            <a:ext cx="857250" cy="476250"/>
          </a:xfrm>
          <a:prstGeom prst="rect">
            <a:avLst/>
          </a:prstGeom>
          <a:noFill/>
          <a:ln>
            <a:noFill/>
          </a:ln>
        </p:spPr>
      </p:pic>
      <p:pic>
        <p:nvPicPr>
          <p:cNvPr descr="image.png" id="288" name="Google Shape;288;p21"/>
          <p:cNvPicPr preferRelativeResize="0"/>
          <p:nvPr/>
        </p:nvPicPr>
        <p:blipFill rotWithShape="1">
          <a:blip r:embed="rId5">
            <a:alphaModFix/>
          </a:blip>
          <a:srcRect b="0" l="0" r="0" t="0"/>
          <a:stretch/>
        </p:blipFill>
        <p:spPr>
          <a:xfrm>
            <a:off x="723900" y="4528095"/>
            <a:ext cx="857250" cy="476250"/>
          </a:xfrm>
          <a:prstGeom prst="rect">
            <a:avLst/>
          </a:prstGeom>
          <a:noFill/>
          <a:ln>
            <a:noFill/>
          </a:ln>
        </p:spPr>
      </p:pic>
      <p:sp>
        <p:nvSpPr>
          <p:cNvPr id="289" name="Google Shape;289;p21"/>
          <p:cNvSpPr/>
          <p:nvPr/>
        </p:nvSpPr>
        <p:spPr>
          <a:xfrm>
            <a:off x="723900" y="2842170"/>
            <a:ext cx="107442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1"/>
          <p:cNvSpPr/>
          <p:nvPr/>
        </p:nvSpPr>
        <p:spPr>
          <a:xfrm>
            <a:off x="723900" y="3613695"/>
            <a:ext cx="107442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1"/>
          <p:cNvSpPr/>
          <p:nvPr/>
        </p:nvSpPr>
        <p:spPr>
          <a:xfrm>
            <a:off x="723900" y="3604170"/>
            <a:ext cx="107442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1"/>
          <p:cNvSpPr/>
          <p:nvPr/>
        </p:nvSpPr>
        <p:spPr>
          <a:xfrm>
            <a:off x="723900" y="3604170"/>
            <a:ext cx="107442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1"/>
          <p:cNvSpPr/>
          <p:nvPr/>
        </p:nvSpPr>
        <p:spPr>
          <a:xfrm>
            <a:off x="723900" y="4375695"/>
            <a:ext cx="107442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1"/>
          <p:cNvSpPr/>
          <p:nvPr/>
        </p:nvSpPr>
        <p:spPr>
          <a:xfrm>
            <a:off x="723900" y="4375695"/>
            <a:ext cx="107442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5" name="Google Shape;295;p21"/>
          <p:cNvPicPr preferRelativeResize="0"/>
          <p:nvPr/>
        </p:nvPicPr>
        <p:blipFill rotWithShape="1">
          <a:blip r:embed="rId6">
            <a:alphaModFix/>
          </a:blip>
          <a:srcRect b="0" l="0" r="0" t="0"/>
          <a:stretch/>
        </p:blipFill>
        <p:spPr>
          <a:xfrm>
            <a:off x="733425" y="2994570"/>
            <a:ext cx="838200" cy="457200"/>
          </a:xfrm>
          <a:prstGeom prst="rect">
            <a:avLst/>
          </a:prstGeom>
          <a:noFill/>
          <a:ln>
            <a:noFill/>
          </a:ln>
        </p:spPr>
      </p:pic>
      <p:sp>
        <p:nvSpPr>
          <p:cNvPr id="296" name="Google Shape;296;p21"/>
          <p:cNvSpPr txBox="1"/>
          <p:nvPr/>
        </p:nvSpPr>
        <p:spPr>
          <a:xfrm>
            <a:off x="1819275" y="3008858"/>
            <a:ext cx="96488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CBD5E1"/>
                </a:solidFill>
                <a:latin typeface="Share Tech Mono"/>
                <a:ea typeface="Share Tech Mono"/>
                <a:cs typeface="Share Tech Mono"/>
                <a:sym typeface="Share Tech Mono"/>
              </a:rPr>
              <a:t>http://googleusercontent.com/image_collection/image_retrieval/6172972075828967462_0</a:t>
            </a:r>
            <a:endParaRPr/>
          </a:p>
        </p:txBody>
      </p:sp>
      <p:sp>
        <p:nvSpPr>
          <p:cNvPr id="297" name="Google Shape;297;p21"/>
          <p:cNvSpPr txBox="1"/>
          <p:nvPr/>
        </p:nvSpPr>
        <p:spPr>
          <a:xfrm>
            <a:off x="1819275" y="3199358"/>
            <a:ext cx="9648825"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Poppins"/>
                <a:ea typeface="Poppins"/>
                <a:cs typeface="Poppins"/>
                <a:sym typeface="Poppins"/>
              </a:rPr>
              <a:t>Module 1: </a:t>
            </a:r>
            <a:r>
              <a:rPr b="0" i="0" lang="en-US" sz="1200" u="none" cap="none" strike="noStrike">
                <a:solidFill>
                  <a:srgbClr val="4F46E5"/>
                </a:solidFill>
                <a:latin typeface="Poppins"/>
                <a:ea typeface="Poppins"/>
                <a:cs typeface="Poppins"/>
                <a:sym typeface="Poppins"/>
              </a:rPr>
              <a:t>Arduino IoT Edge Module Board</a:t>
            </a:r>
            <a:endParaRPr/>
          </a:p>
        </p:txBody>
      </p:sp>
      <p:pic>
        <p:nvPicPr>
          <p:cNvPr descr="image.png" id="298" name="Google Shape;298;p21"/>
          <p:cNvPicPr preferRelativeResize="0"/>
          <p:nvPr/>
        </p:nvPicPr>
        <p:blipFill rotWithShape="1">
          <a:blip r:embed="rId7">
            <a:alphaModFix/>
          </a:blip>
          <a:srcRect b="0" l="0" r="0" t="0"/>
          <a:stretch/>
        </p:blipFill>
        <p:spPr>
          <a:xfrm>
            <a:off x="733425" y="3766095"/>
            <a:ext cx="838200" cy="457200"/>
          </a:xfrm>
          <a:prstGeom prst="rect">
            <a:avLst/>
          </a:prstGeom>
          <a:noFill/>
          <a:ln>
            <a:noFill/>
          </a:ln>
        </p:spPr>
      </p:pic>
      <p:sp>
        <p:nvSpPr>
          <p:cNvPr id="299" name="Google Shape;299;p21"/>
          <p:cNvSpPr txBox="1"/>
          <p:nvPr/>
        </p:nvSpPr>
        <p:spPr>
          <a:xfrm>
            <a:off x="1819275" y="3780383"/>
            <a:ext cx="96488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CBD5E1"/>
                </a:solidFill>
                <a:latin typeface="Share Tech Mono"/>
                <a:ea typeface="Share Tech Mono"/>
                <a:cs typeface="Share Tech Mono"/>
                <a:sym typeface="Share Tech Mono"/>
              </a:rPr>
              <a:t>https://waterfall-security.com/wp-content/uploads/2025/06/How-industrial-cyber-security-works-in-2025-1.png</a:t>
            </a:r>
            <a:endParaRPr/>
          </a:p>
        </p:txBody>
      </p:sp>
      <p:sp>
        <p:nvSpPr>
          <p:cNvPr id="300" name="Google Shape;300;p21"/>
          <p:cNvSpPr txBox="1"/>
          <p:nvPr/>
        </p:nvSpPr>
        <p:spPr>
          <a:xfrm>
            <a:off x="1819275" y="3970883"/>
            <a:ext cx="9648825"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Poppins"/>
                <a:ea typeface="Poppins"/>
                <a:cs typeface="Poppins"/>
                <a:sym typeface="Poppins"/>
              </a:rPr>
              <a:t>Module 2: </a:t>
            </a:r>
            <a:r>
              <a:rPr b="0" i="0" lang="en-US" sz="1200" u="none" cap="none" strike="noStrike">
                <a:solidFill>
                  <a:srgbClr val="4F46E5"/>
                </a:solidFill>
                <a:latin typeface="Poppins"/>
                <a:ea typeface="Poppins"/>
                <a:cs typeface="Poppins"/>
                <a:sym typeface="Poppins"/>
              </a:rPr>
              <a:t>OT Industrial Threat Diagnostic Monitor Dashboard</a:t>
            </a:r>
            <a:endParaRPr/>
          </a:p>
        </p:txBody>
      </p:sp>
      <p:pic>
        <p:nvPicPr>
          <p:cNvPr descr="image.png" id="301" name="Google Shape;301;p21"/>
          <p:cNvPicPr preferRelativeResize="0"/>
          <p:nvPr/>
        </p:nvPicPr>
        <p:blipFill rotWithShape="1">
          <a:blip r:embed="rId8">
            <a:alphaModFix/>
          </a:blip>
          <a:srcRect b="0" l="0" r="0" t="0"/>
          <a:stretch/>
        </p:blipFill>
        <p:spPr>
          <a:xfrm>
            <a:off x="733425" y="4537620"/>
            <a:ext cx="838200" cy="457200"/>
          </a:xfrm>
          <a:prstGeom prst="rect">
            <a:avLst/>
          </a:prstGeom>
          <a:noFill/>
          <a:ln>
            <a:noFill/>
          </a:ln>
        </p:spPr>
      </p:pic>
      <p:sp>
        <p:nvSpPr>
          <p:cNvPr id="302" name="Google Shape;302;p21"/>
          <p:cNvSpPr txBox="1"/>
          <p:nvPr/>
        </p:nvSpPr>
        <p:spPr>
          <a:xfrm>
            <a:off x="1819275" y="4551908"/>
            <a:ext cx="96488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CBD5E1"/>
                </a:solidFill>
                <a:latin typeface="Share Tech Mono"/>
                <a:ea typeface="Share Tech Mono"/>
                <a:cs typeface="Share Tech Mono"/>
                <a:sym typeface="Share Tech Mono"/>
              </a:rPr>
              <a:t>http://googleusercontent.com/image_collection/image_retrieval/91162182616022394_0</a:t>
            </a:r>
            <a:endParaRPr/>
          </a:p>
        </p:txBody>
      </p:sp>
      <p:sp>
        <p:nvSpPr>
          <p:cNvPr id="303" name="Google Shape;303;p21"/>
          <p:cNvSpPr txBox="1"/>
          <p:nvPr/>
        </p:nvSpPr>
        <p:spPr>
          <a:xfrm>
            <a:off x="1819275" y="4742408"/>
            <a:ext cx="9648825"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Poppins"/>
                <a:ea typeface="Poppins"/>
                <a:cs typeface="Poppins"/>
                <a:sym typeface="Poppins"/>
              </a:rPr>
              <a:t>Module 3: </a:t>
            </a:r>
            <a:r>
              <a:rPr b="0" i="0" lang="en-US" sz="1200" u="none" cap="none" strike="noStrike">
                <a:solidFill>
                  <a:srgbClr val="4F46E5"/>
                </a:solidFill>
                <a:latin typeface="Poppins"/>
                <a:ea typeface="Poppins"/>
                <a:cs typeface="Poppins"/>
                <a:sym typeface="Poppins"/>
              </a:rPr>
              <a:t>Gov &amp; Municipal Command Console UI</a:t>
            </a:r>
            <a:endParaRPr/>
          </a:p>
        </p:txBody>
      </p:sp>
      <p:sp>
        <p:nvSpPr>
          <p:cNvPr id="304" name="Google Shape;304;p21"/>
          <p:cNvSpPr txBox="1"/>
          <p:nvPr/>
        </p:nvSpPr>
        <p:spPr>
          <a:xfrm>
            <a:off x="723900" y="581025"/>
            <a:ext cx="10744200"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8BDF8"/>
                </a:solidFill>
                <a:latin typeface="Share Tech Mono"/>
                <a:ea typeface="Share Tech Mono"/>
                <a:cs typeface="Share Tech Mono"/>
                <a:sym typeface="Share Tech Mono"/>
              </a:rPr>
              <a:t>[ SYSTEM BIBLIOGRAPHY: IMAGERY_REGISTRY ] VERIFIED IMAGERY REGISTER</a:t>
            </a:r>
            <a:endParaRPr/>
          </a:p>
        </p:txBody>
      </p:sp>
      <p:sp>
        <p:nvSpPr>
          <p:cNvPr id="305" name="Google Shape;305;p21"/>
          <p:cNvSpPr/>
          <p:nvPr/>
        </p:nvSpPr>
        <p:spPr>
          <a:xfrm>
            <a:off x="723900" y="838200"/>
            <a:ext cx="10744200" cy="952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1"/>
          <p:cNvSpPr txBox="1"/>
          <p:nvPr/>
        </p:nvSpPr>
        <p:spPr>
          <a:xfrm>
            <a:off x="723900" y="1085850"/>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SYSTEM </a:t>
            </a:r>
            <a:r>
              <a:rPr b="1" i="0" lang="en-US" sz="2550" u="none" cap="none" strike="noStrike">
                <a:solidFill>
                  <a:srgbClr val="38BDF8"/>
                </a:solidFill>
                <a:latin typeface="Orbitron"/>
                <a:ea typeface="Orbitron"/>
                <a:cs typeface="Orbitron"/>
                <a:sym typeface="Orbitron"/>
              </a:rPr>
              <a:t>IMAGE REGISTRIES</a:t>
            </a:r>
            <a:endParaRPr/>
          </a:p>
        </p:txBody>
      </p:sp>
      <p:sp>
        <p:nvSpPr>
          <p:cNvPr id="307" name="Google Shape;307;p21"/>
          <p:cNvSpPr/>
          <p:nvPr/>
        </p:nvSpPr>
        <p:spPr>
          <a:xfrm>
            <a:off x="1524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1"/>
          <p:cNvSpPr/>
          <p:nvPr/>
        </p:nvSpPr>
        <p:spPr>
          <a:xfrm>
            <a:off x="11887200" y="152400"/>
            <a:ext cx="152400" cy="152400"/>
          </a:xfrm>
          <a:prstGeom prst="rect">
            <a:avLst/>
          </a:prstGeom>
          <a:noFill/>
          <a:ln cap="flat" cmpd="sng" w="1905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B14"/>
        </a:solidFill>
      </p:bgPr>
    </p:bg>
    <p:spTree>
      <p:nvGrpSpPr>
        <p:cNvPr id="312" name="Shape 312"/>
        <p:cNvGrpSpPr/>
        <p:nvPr/>
      </p:nvGrpSpPr>
      <p:grpSpPr>
        <a:xfrm>
          <a:off x="0" y="0"/>
          <a:ext cx="0" cy="0"/>
          <a:chOff x="0" y="0"/>
          <a:chExt cx="0" cy="0"/>
        </a:xfrm>
      </p:grpSpPr>
      <p:pic>
        <p:nvPicPr>
          <p:cNvPr descr="image.png" id="313" name="Google Shape;313;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4" name="Google Shape;314;p22"/>
          <p:cNvPicPr preferRelativeResize="0"/>
          <p:nvPr/>
        </p:nvPicPr>
        <p:blipFill rotWithShape="1">
          <a:blip r:embed="rId4">
            <a:alphaModFix/>
          </a:blip>
          <a:srcRect b="0" l="0" r="0" t="0"/>
          <a:stretch/>
        </p:blipFill>
        <p:spPr>
          <a:xfrm>
            <a:off x="723900" y="3118395"/>
            <a:ext cx="857250" cy="476250"/>
          </a:xfrm>
          <a:prstGeom prst="rect">
            <a:avLst/>
          </a:prstGeom>
          <a:noFill/>
          <a:ln>
            <a:noFill/>
          </a:ln>
        </p:spPr>
      </p:pic>
      <p:pic>
        <p:nvPicPr>
          <p:cNvPr descr="image.png" id="315" name="Google Shape;315;p22"/>
          <p:cNvPicPr preferRelativeResize="0"/>
          <p:nvPr/>
        </p:nvPicPr>
        <p:blipFill rotWithShape="1">
          <a:blip r:embed="rId5">
            <a:alphaModFix/>
          </a:blip>
          <a:srcRect b="0" l="0" r="0" t="0"/>
          <a:stretch/>
        </p:blipFill>
        <p:spPr>
          <a:xfrm>
            <a:off x="723900" y="3937545"/>
            <a:ext cx="857250" cy="476250"/>
          </a:xfrm>
          <a:prstGeom prst="rect">
            <a:avLst/>
          </a:prstGeom>
          <a:noFill/>
          <a:ln>
            <a:noFill/>
          </a:ln>
        </p:spPr>
      </p:pic>
      <p:sp>
        <p:nvSpPr>
          <p:cNvPr id="316" name="Google Shape;316;p22"/>
          <p:cNvSpPr/>
          <p:nvPr/>
        </p:nvSpPr>
        <p:spPr>
          <a:xfrm>
            <a:off x="723900" y="2927895"/>
            <a:ext cx="10744200" cy="8667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2"/>
          <p:cNvSpPr/>
          <p:nvPr/>
        </p:nvSpPr>
        <p:spPr>
          <a:xfrm>
            <a:off x="723900" y="3785145"/>
            <a:ext cx="107442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2"/>
          <p:cNvSpPr/>
          <p:nvPr/>
        </p:nvSpPr>
        <p:spPr>
          <a:xfrm>
            <a:off x="723900" y="3785145"/>
            <a:ext cx="107442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19" name="Google Shape;319;p22"/>
          <p:cNvPicPr preferRelativeResize="0"/>
          <p:nvPr/>
        </p:nvPicPr>
        <p:blipFill rotWithShape="1">
          <a:blip r:embed="rId6">
            <a:alphaModFix/>
          </a:blip>
          <a:srcRect b="0" l="0" r="0" t="0"/>
          <a:stretch/>
        </p:blipFill>
        <p:spPr>
          <a:xfrm>
            <a:off x="733425" y="3127920"/>
            <a:ext cx="838200" cy="457200"/>
          </a:xfrm>
          <a:prstGeom prst="rect">
            <a:avLst/>
          </a:prstGeom>
          <a:noFill/>
          <a:ln>
            <a:noFill/>
          </a:ln>
        </p:spPr>
      </p:pic>
      <p:sp>
        <p:nvSpPr>
          <p:cNvPr id="320" name="Google Shape;320;p22"/>
          <p:cNvSpPr txBox="1"/>
          <p:nvPr/>
        </p:nvSpPr>
        <p:spPr>
          <a:xfrm>
            <a:off x="1819275" y="3070770"/>
            <a:ext cx="964882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CBD5E1"/>
                </a:solidFill>
                <a:latin typeface="Share Tech Mono"/>
                <a:ea typeface="Share Tech Mono"/>
                <a:cs typeface="Share Tech Mono"/>
                <a:sym typeface="Share Tech Mono"/>
              </a:rPr>
              <a:t>https://images.unsplash.com/photo-1631378297854-185cff6b0986?fm=jpg&amp;q=60&amp;w=3000&amp;ixlib=rb-4.1.0&amp;ixid=M3wxMjA3fDB8MHxzZWFyY2h8OHx8bWljcm9jb250cm9sbGVyfGVufDB8fDB8fHww</a:t>
            </a:r>
            <a:endParaRPr/>
          </a:p>
        </p:txBody>
      </p:sp>
      <p:sp>
        <p:nvSpPr>
          <p:cNvPr id="321" name="Google Shape;321;p22"/>
          <p:cNvSpPr txBox="1"/>
          <p:nvPr/>
        </p:nvSpPr>
        <p:spPr>
          <a:xfrm>
            <a:off x="1819275" y="3404145"/>
            <a:ext cx="9648825"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Poppins"/>
                <a:ea typeface="Poppins"/>
                <a:cs typeface="Poppins"/>
                <a:sym typeface="Poppins"/>
              </a:rPr>
              <a:t>Source: </a:t>
            </a:r>
            <a:r>
              <a:rPr b="0" i="0" lang="en-US" sz="1200" u="none" cap="none" strike="noStrike">
                <a:solidFill>
                  <a:srgbClr val="4F46E5"/>
                </a:solidFill>
                <a:latin typeface="Poppins"/>
                <a:ea typeface="Poppins"/>
                <a:cs typeface="Poppins"/>
                <a:sym typeface="Poppins"/>
              </a:rPr>
              <a:t>unsplash.com</a:t>
            </a:r>
            <a:endParaRPr/>
          </a:p>
        </p:txBody>
      </p:sp>
      <p:pic>
        <p:nvPicPr>
          <p:cNvPr descr="image.png" id="322" name="Google Shape;322;p22"/>
          <p:cNvPicPr preferRelativeResize="0"/>
          <p:nvPr/>
        </p:nvPicPr>
        <p:blipFill rotWithShape="1">
          <a:blip r:embed="rId7">
            <a:alphaModFix/>
          </a:blip>
          <a:srcRect b="0" l="0" r="0" t="0"/>
          <a:stretch/>
        </p:blipFill>
        <p:spPr>
          <a:xfrm>
            <a:off x="733425" y="3947070"/>
            <a:ext cx="838200" cy="457200"/>
          </a:xfrm>
          <a:prstGeom prst="rect">
            <a:avLst/>
          </a:prstGeom>
          <a:noFill/>
          <a:ln>
            <a:noFill/>
          </a:ln>
        </p:spPr>
      </p:pic>
      <p:sp>
        <p:nvSpPr>
          <p:cNvPr id="323" name="Google Shape;323;p22"/>
          <p:cNvSpPr txBox="1"/>
          <p:nvPr/>
        </p:nvSpPr>
        <p:spPr>
          <a:xfrm>
            <a:off x="1819275" y="3961358"/>
            <a:ext cx="96488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CBD5E1"/>
                </a:solidFill>
                <a:latin typeface="Share Tech Mono"/>
                <a:ea typeface="Share Tech Mono"/>
                <a:cs typeface="Share Tech Mono"/>
                <a:sym typeface="Share Tech Mono"/>
              </a:rPr>
              <a:t>https://cdn.dribbble.com/userupload/43439112/file/original-9b2d76da668971a2fa5a1914729b4671.png?resize=400x0</a:t>
            </a:r>
            <a:endParaRPr/>
          </a:p>
        </p:txBody>
      </p:sp>
      <p:sp>
        <p:nvSpPr>
          <p:cNvPr id="324" name="Google Shape;324;p22"/>
          <p:cNvSpPr txBox="1"/>
          <p:nvPr/>
        </p:nvSpPr>
        <p:spPr>
          <a:xfrm>
            <a:off x="1819275" y="4151858"/>
            <a:ext cx="9648825"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Poppins"/>
                <a:ea typeface="Poppins"/>
                <a:cs typeface="Poppins"/>
                <a:sym typeface="Poppins"/>
              </a:rPr>
              <a:t>Source: </a:t>
            </a:r>
            <a:r>
              <a:rPr b="0" i="0" lang="en-US" sz="1200" u="none" cap="none" strike="noStrike">
                <a:solidFill>
                  <a:srgbClr val="4F46E5"/>
                </a:solidFill>
                <a:latin typeface="Poppins"/>
                <a:ea typeface="Poppins"/>
                <a:cs typeface="Poppins"/>
                <a:sym typeface="Poppins"/>
              </a:rPr>
              <a:t>dribbble.com</a:t>
            </a:r>
            <a:endParaRPr/>
          </a:p>
        </p:txBody>
      </p:sp>
      <p:sp>
        <p:nvSpPr>
          <p:cNvPr id="325" name="Google Shape;325;p22"/>
          <p:cNvSpPr txBox="1"/>
          <p:nvPr/>
        </p:nvSpPr>
        <p:spPr>
          <a:xfrm>
            <a:off x="723900" y="581025"/>
            <a:ext cx="11281410" cy="38859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FFFFFF"/>
                </a:solidFill>
                <a:latin typeface="Orbitron"/>
                <a:ea typeface="Orbitron"/>
                <a:cs typeface="Orbitron"/>
                <a:sym typeface="Orbitron"/>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